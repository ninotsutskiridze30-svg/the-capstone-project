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Nino's story — it's your own team member. This is a real quote from your discovery interviews. Name the ICP clearly. Pain intensity: time cost, match failure, equity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Reference the ICP from slide 1. Three steps, not a feature list. No bullet point of features — judges have seen that a hundred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tailwind is a specific, datable change — not 'technology has improved.' Judges will probe 'why now' hard. Know the 80% smartphone stat and the AI cost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judges through the math live: 50k students × GEL 2,400 = GEL 120M. 30% online willing = GEL 36M SAM. SOM is your one-year revenue target, not a market share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URL: https://tutoring-lyart.vercel.app/en
WARNING: The homepage shows placeholder copy saying 10,000+ students and 10,000+ sessions completed. Your real traction is 10 waitlist signups (slide 6). If a judge spots this during the demo, say: The homepage uses placeholder copy for the demo build. Our real numbers are on the next slide and in the PostHog dashboard. Fix this on the site before Demo Day if possible.
Also: live site shows prices in USD. Your pitch uses GEL. Mention you are targeting the Georgian market.
Demo flow: browse tutors page, click a profile, show the booking calendar, show the video call and whiteboard. 90 seconds max. Have the site open on mobile data as a backup in case WiFi is unreliable.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honest slide. 10 signups is real. 5 usability users is real. Full MVP deployed is real. Don't oversell. Judges respect intellectual honesty more than inflated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 every number cold. If a judge says 'your CAC seems high' — agree if true, explain the plan to reduce it, show the experiment results. Don't get defensive.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channel has a named CAC and a specific activation metric with a number and time window. If asked 'why not paid ads?' — LTV:CAC on referral is 143:1. Paid ads aren't needed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'why won't Google build this?' — name the Helmer power and point to the repo evidence. Never say 'there is no competition.' WhatsApp groups ARE the competitor.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 amount. Three line items. Four milestones. If asked 'what's your valuation?' — use the VC method: target $5M exit in 5 years, 10× return, 60% risk discount = ~$833K implied pre-money. Be confident but not arbitrary.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20040" y="91440"/>
            <a:ext cx="228600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01 · PROBLEM</a:t>
            </a:r>
            <a:endParaRPr lang="en-US" sz="800" dirty="0"/>
          </a:p>
        </p:txBody>
      </p:sp>
      <p:sp>
        <p:nvSpPr>
          <p:cNvPr id="4" name="Text 2"/>
          <p:cNvSpPr/>
          <p:nvPr/>
        </p:nvSpPr>
        <p:spPr>
          <a:xfrm>
            <a:off x="320040" y="292608"/>
            <a:ext cx="850392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Georgian students waste days finding an exam tutor.</a:t>
            </a:r>
            <a:endParaRPr lang="en-US" sz="3000" dirty="0"/>
          </a:p>
        </p:txBody>
      </p:sp>
      <p:sp>
        <p:nvSpPr>
          <p:cNvPr id="5" name="Text 3"/>
          <p:cNvSpPr/>
          <p:nvPr/>
        </p:nvSpPr>
        <p:spPr>
          <a:xfrm>
            <a:off x="6858000" y="91440"/>
            <a:ext cx="2011680" cy="256032"/>
          </a:xfrm>
          <a:prstGeom prst="rect">
            <a:avLst/>
          </a:prstGeom>
          <a:noFill/>
          <a:ln/>
        </p:spPr>
        <p:txBody>
          <a:bodyPr wrap="square" lIns="0" tIns="0" rIns="0" bIns="0"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6" name="Shape 4"/>
          <p:cNvSpPr/>
          <p:nvPr/>
        </p:nvSpPr>
        <p:spPr>
          <a:xfrm>
            <a:off x="320040" y="1005840"/>
            <a:ext cx="8503920" cy="292608"/>
          </a:xfrm>
          <a:prstGeom prst="roundRect">
            <a:avLst>
              <a:gd name="adj" fmla="val 18750"/>
            </a:avLst>
          </a:prstGeom>
          <a:solidFill>
            <a:srgbClr val="0A7585"/>
          </a:solidFill>
          <a:ln w="12700">
            <a:solidFill>
              <a:srgbClr val="0A7585"/>
            </a:solidFill>
            <a:prstDash val="solid"/>
          </a:ln>
        </p:spPr>
      </p:sp>
      <p:sp>
        <p:nvSpPr>
          <p:cNvPr id="7" name="Text 5"/>
          <p:cNvSpPr/>
          <p:nvPr/>
        </p:nvSpPr>
        <p:spPr>
          <a:xfrm>
            <a:off x="320040" y="1005840"/>
            <a:ext cx="85039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ICP: Georgian high-school students (grades 10–12) preparing for national university entrance exams</a:t>
            </a:r>
            <a:endParaRPr lang="en-US" sz="850" dirty="0"/>
          </a:p>
        </p:txBody>
      </p:sp>
      <p:sp>
        <p:nvSpPr>
          <p:cNvPr id="8" name="Shape 6"/>
          <p:cNvSpPr/>
          <p:nvPr/>
        </p:nvSpPr>
        <p:spPr>
          <a:xfrm>
            <a:off x="320040" y="1417320"/>
            <a:ext cx="8503920" cy="960120"/>
          </a:xfrm>
          <a:prstGeom prst="roundRect">
            <a:avLst>
              <a:gd name="adj" fmla="val 7619"/>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02920" y="1508760"/>
            <a:ext cx="8229600" cy="274320"/>
          </a:xfrm>
          <a:prstGeom prst="rect">
            <a:avLst/>
          </a:prstGeom>
          <a:noFill/>
          <a:ln/>
        </p:spPr>
        <p:txBody>
          <a:bodyPr wrap="square" lIns="0" tIns="0" rIns="0" bIns="0" rtlCol="0" anchor="ctr"/>
          <a:lstStyle/>
          <a:p>
            <a:pPr indent="0" marL="0">
              <a:buNone/>
            </a:pPr>
            <a:r>
              <a:rPr lang="en-US" sz="1250" b="1" i="1" dirty="0">
                <a:solidFill>
                  <a:srgbClr val="0B1F3A"/>
                </a:solidFill>
                <a:latin typeface="Calibri" pitchFamily="34" charset="0"/>
                <a:ea typeface="Calibri" pitchFamily="34" charset="-122"/>
                <a:cs typeface="Calibri" pitchFamily="34" charset="-120"/>
              </a:rPr>
              <a:t>“I spent close to a week trying to find a physics tutor.</a:t>
            </a:r>
            <a:endParaRPr lang="en-US" sz="1250" dirty="0"/>
          </a:p>
        </p:txBody>
      </p:sp>
      <p:sp>
        <p:nvSpPr>
          <p:cNvPr id="10" name="Text 8"/>
          <p:cNvSpPr/>
          <p:nvPr/>
        </p:nvSpPr>
        <p:spPr>
          <a:xfrm>
            <a:off x="502920" y="1773936"/>
            <a:ext cx="8229600" cy="274320"/>
          </a:xfrm>
          <a:prstGeom prst="rect">
            <a:avLst/>
          </a:prstGeom>
          <a:noFill/>
          <a:ln/>
        </p:spPr>
        <p:txBody>
          <a:bodyPr wrap="square" lIns="0" tIns="0" rIns="0" bIns="0" rtlCol="0" anchor="ctr"/>
          <a:lstStyle/>
          <a:p>
            <a:pPr indent="0" marL="0">
              <a:buNone/>
            </a:pPr>
            <a:r>
              <a:rPr lang="en-US" sz="1250" i="1" dirty="0">
                <a:solidFill>
                  <a:srgbClr val="0B1F3A"/>
                </a:solidFill>
                <a:latin typeface="Calibri" pitchFamily="34" charset="0"/>
                <a:ea typeface="Calibri" pitchFamily="34" charset="-122"/>
                <a:cs typeface="Calibri" pitchFamily="34" charset="-120"/>
              </a:rPr>
              <a:t>Two were already full, one had raised their rate, one only taught when I had lectures.”</a:t>
            </a:r>
            <a:endParaRPr lang="en-US" sz="1250" dirty="0"/>
          </a:p>
        </p:txBody>
      </p:sp>
      <p:sp>
        <p:nvSpPr>
          <p:cNvPr id="11" name="Text 9"/>
          <p:cNvSpPr/>
          <p:nvPr/>
        </p:nvSpPr>
        <p:spPr>
          <a:xfrm>
            <a:off x="502920" y="2093976"/>
            <a:ext cx="8229600" cy="201168"/>
          </a:xfrm>
          <a:prstGeom prst="rect">
            <a:avLst/>
          </a:prstGeom>
          <a:noFill/>
          <a:ln/>
        </p:spPr>
        <p:txBody>
          <a:bodyPr wrap="square" lIns="0" tIns="0" rIns="0" bIns="0" rtlCol="0" anchor="ctr"/>
          <a:lstStyle/>
          <a:p>
            <a:pPr indent="0" marL="0">
              <a:buNone/>
            </a:pPr>
            <a:r>
              <a:rPr lang="en-US" sz="900" dirty="0">
                <a:solidFill>
                  <a:srgbClr val="6B8099"/>
                </a:solidFill>
                <a:latin typeface="Calibri" pitchFamily="34" charset="0"/>
                <a:ea typeface="Calibri" pitchFamily="34" charset="-122"/>
                <a:cs typeface="Calibri" pitchFamily="34" charset="-120"/>
              </a:rPr>
              <a:t>— Interview P3 · Nino T., KIU student, Semester 1</a:t>
            </a:r>
            <a:endParaRPr lang="en-US" sz="900" dirty="0"/>
          </a:p>
        </p:txBody>
      </p:sp>
      <p:sp>
        <p:nvSpPr>
          <p:cNvPr id="12" name="Shape 10"/>
          <p:cNvSpPr/>
          <p:nvPr/>
        </p:nvSpPr>
        <p:spPr>
          <a:xfrm>
            <a:off x="320040" y="2468880"/>
            <a:ext cx="2743200" cy="1097280"/>
          </a:xfrm>
          <a:prstGeom prst="roundRect">
            <a:avLst>
              <a:gd name="adj" fmla="val 6667"/>
            </a:avLst>
          </a:prstGeom>
          <a:solidFill>
            <a:srgbClr val="E8F4F6"/>
          </a:solidFill>
          <a:ln w="12700">
            <a:solidFill>
              <a:srgbClr val="E8F4F6"/>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57200" y="2523744"/>
            <a:ext cx="2468880" cy="274320"/>
          </a:xfrm>
          <a:prstGeom prst="rect">
            <a:avLst/>
          </a:prstGeom>
          <a:noFill/>
          <a:ln/>
        </p:spPr>
        <p:txBody>
          <a:bodyPr wrap="square" lIns="0" tIns="0" rIns="0" bIns="0" rtlCol="0" anchor="ctr"/>
          <a:lstStyle/>
          <a:p>
            <a:pPr indent="0" marL="0">
              <a:buNone/>
            </a:pPr>
            <a:r>
              <a:rPr lang="en-US" sz="1100" b="1" dirty="0">
                <a:solidFill>
                  <a:srgbClr val="0A7585"/>
                </a:solidFill>
                <a:latin typeface="Calibri" pitchFamily="34" charset="0"/>
                <a:ea typeface="Calibri" pitchFamily="34" charset="-122"/>
                <a:cs typeface="Calibri" pitchFamily="34" charset="-120"/>
              </a:rPr>
              <a:t>Time cost</a:t>
            </a:r>
            <a:endParaRPr lang="en-US" sz="1100" dirty="0"/>
          </a:p>
        </p:txBody>
      </p:sp>
      <p:sp>
        <p:nvSpPr>
          <p:cNvPr id="14" name="Text 12"/>
          <p:cNvSpPr/>
          <p:nvPr/>
        </p:nvSpPr>
        <p:spPr>
          <a:xfrm>
            <a:off x="457200" y="2779776"/>
            <a:ext cx="2468880" cy="731520"/>
          </a:xfrm>
          <a:prstGeom prst="rect">
            <a:avLst/>
          </a:prstGeom>
          <a:noFill/>
          <a:ln/>
        </p:spPr>
        <p:txBody>
          <a:bodyPr wrap="square" lIns="0" tIns="0" rIns="0" bIns="0" rtlCol="0" anchor="ctr"/>
          <a:lstStyle/>
          <a:p>
            <a:pPr indent="0" marL="0">
              <a:buNone/>
            </a:pPr>
            <a:r>
              <a:rPr lang="en-US" sz="1000" dirty="0">
                <a:solidFill>
                  <a:srgbClr val="0B1F3A"/>
                </a:solidFill>
                <a:latin typeface="Calibri" pitchFamily="34" charset="0"/>
                <a:ea typeface="Calibri" pitchFamily="34" charset="-122"/>
                <a:cs typeface="Calibri" pitchFamily="34" charset="-120"/>
              </a:rPr>
              <a:t>2–7 days lost per search attempt — worst case during exam season</a:t>
            </a:r>
            <a:endParaRPr lang="en-US" sz="1000" dirty="0"/>
          </a:p>
        </p:txBody>
      </p:sp>
      <p:sp>
        <p:nvSpPr>
          <p:cNvPr id="15" name="Shape 13"/>
          <p:cNvSpPr/>
          <p:nvPr/>
        </p:nvSpPr>
        <p:spPr>
          <a:xfrm>
            <a:off x="3227832" y="2468880"/>
            <a:ext cx="2743200" cy="1097280"/>
          </a:xfrm>
          <a:prstGeom prst="roundRect">
            <a:avLst>
              <a:gd name="adj" fmla="val 6667"/>
            </a:avLst>
          </a:prstGeom>
          <a:solidFill>
            <a:srgbClr val="FFF8E8"/>
          </a:solidFill>
          <a:ln w="12700">
            <a:solidFill>
              <a:srgbClr val="FFF8E8"/>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3364992" y="2523744"/>
            <a:ext cx="2468880" cy="274320"/>
          </a:xfrm>
          <a:prstGeom prst="rect">
            <a:avLst/>
          </a:prstGeom>
          <a:noFill/>
          <a:ln/>
        </p:spPr>
        <p:txBody>
          <a:bodyPr wrap="square" lIns="0" tIns="0" rIns="0" bIns="0" rtlCol="0" anchor="ctr"/>
          <a:lstStyle/>
          <a:p>
            <a:pPr indent="0" marL="0">
              <a:buNone/>
            </a:pPr>
            <a:r>
              <a:rPr lang="en-US" sz="1100" b="1" dirty="0">
                <a:solidFill>
                  <a:srgbClr val="E8A020"/>
                </a:solidFill>
                <a:latin typeface="Calibri" pitchFamily="34" charset="0"/>
                <a:ea typeface="Calibri" pitchFamily="34" charset="-122"/>
                <a:cs typeface="Calibri" pitchFamily="34" charset="-120"/>
              </a:rPr>
              <a:t>Match failure</a:t>
            </a:r>
            <a:endParaRPr lang="en-US" sz="1100" dirty="0"/>
          </a:p>
        </p:txBody>
      </p:sp>
      <p:sp>
        <p:nvSpPr>
          <p:cNvPr id="17" name="Text 15"/>
          <p:cNvSpPr/>
          <p:nvPr/>
        </p:nvSpPr>
        <p:spPr>
          <a:xfrm>
            <a:off x="3364992" y="2779776"/>
            <a:ext cx="2468880" cy="731520"/>
          </a:xfrm>
          <a:prstGeom prst="rect">
            <a:avLst/>
          </a:prstGeom>
          <a:noFill/>
          <a:ln/>
        </p:spPr>
        <p:txBody>
          <a:bodyPr wrap="square" lIns="0" tIns="0" rIns="0" bIns="0" rtlCol="0" anchor="ctr"/>
          <a:lstStyle/>
          <a:p>
            <a:pPr indent="0" marL="0">
              <a:buNone/>
            </a:pPr>
            <a:r>
              <a:rPr lang="en-US" sz="1000" dirty="0">
                <a:solidFill>
                  <a:srgbClr val="0B1F3A"/>
                </a:solidFill>
                <a:latin typeface="Calibri" pitchFamily="34" charset="0"/>
                <a:ea typeface="Calibri" pitchFamily="34" charset="-122"/>
                <a:cs typeface="Calibri" pitchFamily="34" charset="-120"/>
              </a:rPr>
              <a:t>Stale info: tutors are full or rates changed by the time students make contact</a:t>
            </a:r>
            <a:endParaRPr lang="en-US" sz="1000" dirty="0"/>
          </a:p>
        </p:txBody>
      </p:sp>
      <p:sp>
        <p:nvSpPr>
          <p:cNvPr id="18" name="Shape 16"/>
          <p:cNvSpPr/>
          <p:nvPr/>
        </p:nvSpPr>
        <p:spPr>
          <a:xfrm>
            <a:off x="6135624" y="2468880"/>
            <a:ext cx="2743200" cy="1097280"/>
          </a:xfrm>
          <a:prstGeom prst="roundRect">
            <a:avLst>
              <a:gd name="adj" fmla="val 6667"/>
            </a:avLst>
          </a:prstGeom>
          <a:solidFill>
            <a:srgbClr val="FDECEA"/>
          </a:solidFill>
          <a:ln w="12700">
            <a:solidFill>
              <a:srgbClr val="FDECEA"/>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6272784" y="2523744"/>
            <a:ext cx="2468880" cy="274320"/>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Equity gap</a:t>
            </a:r>
            <a:endParaRPr lang="en-US" sz="1100" dirty="0"/>
          </a:p>
        </p:txBody>
      </p:sp>
      <p:sp>
        <p:nvSpPr>
          <p:cNvPr id="20" name="Text 18"/>
          <p:cNvSpPr/>
          <p:nvPr/>
        </p:nvSpPr>
        <p:spPr>
          <a:xfrm>
            <a:off x="6272784" y="2779776"/>
            <a:ext cx="2468880" cy="731520"/>
          </a:xfrm>
          <a:prstGeom prst="rect">
            <a:avLst/>
          </a:prstGeom>
          <a:noFill/>
          <a:ln/>
        </p:spPr>
        <p:txBody>
          <a:bodyPr wrap="square" lIns="0" tIns="0" rIns="0" bIns="0" rtlCol="0" anchor="ctr"/>
          <a:lstStyle/>
          <a:p>
            <a:pPr indent="0" marL="0">
              <a:buNone/>
            </a:pPr>
            <a:r>
              <a:rPr lang="en-US" sz="1000" dirty="0">
                <a:solidFill>
                  <a:srgbClr val="0B1F3A"/>
                </a:solidFill>
                <a:latin typeface="Calibri" pitchFamily="34" charset="0"/>
                <a:ea typeface="Calibri" pitchFamily="34" charset="-122"/>
                <a:cs typeface="Calibri" pitchFamily="34" charset="-120"/>
              </a:rPr>
              <a:t>Students with small networks (international, new to KIU) have no starting point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20040" y="91440"/>
            <a:ext cx="228600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02 · SOLUTION</a:t>
            </a:r>
            <a:endParaRPr lang="en-US" sz="800" dirty="0"/>
          </a:p>
        </p:txBody>
      </p:sp>
      <p:sp>
        <p:nvSpPr>
          <p:cNvPr id="4" name="Text 2"/>
          <p:cNvSpPr/>
          <p:nvPr/>
        </p:nvSpPr>
        <p:spPr>
          <a:xfrm>
            <a:off x="320040" y="292608"/>
            <a:ext cx="850392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Find a tutor, book, and learn — minutes, not days.</a:t>
            </a:r>
            <a:endParaRPr lang="en-US" sz="3000" dirty="0"/>
          </a:p>
        </p:txBody>
      </p:sp>
      <p:sp>
        <p:nvSpPr>
          <p:cNvPr id="5" name="Text 3"/>
          <p:cNvSpPr/>
          <p:nvPr/>
        </p:nvSpPr>
        <p:spPr>
          <a:xfrm>
            <a:off x="6858000" y="91440"/>
            <a:ext cx="2011680" cy="256032"/>
          </a:xfrm>
          <a:prstGeom prst="rect">
            <a:avLst/>
          </a:prstGeom>
          <a:noFill/>
          <a:ln/>
        </p:spPr>
        <p:txBody>
          <a:bodyPr wrap="square" lIns="0" tIns="0" rIns="0" bIns="0"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6" name="Text 4"/>
          <p:cNvSpPr/>
          <p:nvPr/>
        </p:nvSpPr>
        <p:spPr>
          <a:xfrm>
            <a:off x="320040" y="1005840"/>
            <a:ext cx="8503920" cy="502920"/>
          </a:xfrm>
          <a:prstGeom prst="rect">
            <a:avLst/>
          </a:prstGeom>
          <a:noFill/>
          <a:ln/>
        </p:spPr>
        <p:txBody>
          <a:bodyPr wrap="square" lIns="0" tIns="0" rIns="0" bIns="0" rtlCol="0" anchor="ctr"/>
          <a:lstStyle/>
          <a:p>
            <a:pPr indent="0" marL="0">
              <a:buNone/>
            </a:pPr>
            <a:r>
              <a:rPr lang="en-US" sz="1200" dirty="0">
                <a:solidFill>
                  <a:srgbClr val="0B1F3A"/>
                </a:solidFill>
                <a:latin typeface="Calibri" pitchFamily="34" charset="0"/>
                <a:ea typeface="Calibri" pitchFamily="34" charset="-122"/>
                <a:cs typeface="Calibri" pitchFamily="34" charset="-120"/>
              </a:rPr>
              <a:t>TutorLink gives Georgian exam-prep students a single place to find a verified tutor, book a session, and attend a lesson with a shared whiteboard — in Georgian or English.</a:t>
            </a:r>
            <a:endParaRPr lang="en-US" sz="1200" dirty="0"/>
          </a:p>
        </p:txBody>
      </p:sp>
      <p:sp>
        <p:nvSpPr>
          <p:cNvPr id="7" name="Shape 5"/>
          <p:cNvSpPr/>
          <p:nvPr/>
        </p:nvSpPr>
        <p:spPr>
          <a:xfrm>
            <a:off x="320040" y="1645920"/>
            <a:ext cx="2743200" cy="2331720"/>
          </a:xfrm>
          <a:prstGeom prst="roundRect">
            <a:avLst>
              <a:gd name="adj" fmla="val 3137"/>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8" name="Shape 6"/>
          <p:cNvSpPr/>
          <p:nvPr/>
        </p:nvSpPr>
        <p:spPr>
          <a:xfrm>
            <a:off x="457200" y="1737360"/>
            <a:ext cx="420624" cy="420624"/>
          </a:xfrm>
          <a:prstGeom prst="ellipse">
            <a:avLst/>
          </a:prstGeom>
          <a:solidFill>
            <a:srgbClr val="0A7585"/>
          </a:solidFill>
          <a:ln w="12700">
            <a:solidFill>
              <a:srgbClr val="0A7585"/>
            </a:solidFill>
            <a:prstDash val="solid"/>
          </a:ln>
        </p:spPr>
      </p:sp>
      <p:sp>
        <p:nvSpPr>
          <p:cNvPr id="9" name="Text 7"/>
          <p:cNvSpPr/>
          <p:nvPr/>
        </p:nvSpPr>
        <p:spPr>
          <a:xfrm>
            <a:off x="457200" y="173736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8"/>
          <p:cNvSpPr/>
          <p:nvPr/>
        </p:nvSpPr>
        <p:spPr>
          <a:xfrm>
            <a:off x="960120" y="1737360"/>
            <a:ext cx="1920240" cy="420624"/>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Find</a:t>
            </a:r>
            <a:endParaRPr lang="en-US" sz="1700" dirty="0"/>
          </a:p>
        </p:txBody>
      </p:sp>
      <p:sp>
        <p:nvSpPr>
          <p:cNvPr id="11" name="Text 9"/>
          <p:cNvSpPr/>
          <p:nvPr/>
        </p:nvSpPr>
        <p:spPr>
          <a:xfrm>
            <a:off x="457200" y="2249424"/>
            <a:ext cx="2487168" cy="1600200"/>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Browse verified tutors filtered by subject, rate, and exam syllabus. Real availability. No group chat required.</a:t>
            </a:r>
            <a:endParaRPr lang="en-US" sz="1100" dirty="0"/>
          </a:p>
        </p:txBody>
      </p:sp>
      <p:sp>
        <p:nvSpPr>
          <p:cNvPr id="12" name="Shape 10"/>
          <p:cNvSpPr/>
          <p:nvPr/>
        </p:nvSpPr>
        <p:spPr>
          <a:xfrm>
            <a:off x="3227832" y="1645920"/>
            <a:ext cx="2743200" cy="2331720"/>
          </a:xfrm>
          <a:prstGeom prst="roundRect">
            <a:avLst>
              <a:gd name="adj" fmla="val 3137"/>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3" name="Shape 11"/>
          <p:cNvSpPr/>
          <p:nvPr/>
        </p:nvSpPr>
        <p:spPr>
          <a:xfrm>
            <a:off x="3364992" y="1737360"/>
            <a:ext cx="420624" cy="420624"/>
          </a:xfrm>
          <a:prstGeom prst="ellipse">
            <a:avLst/>
          </a:prstGeom>
          <a:solidFill>
            <a:srgbClr val="0A7585"/>
          </a:solidFill>
          <a:ln w="12700">
            <a:solidFill>
              <a:srgbClr val="0A7585"/>
            </a:solidFill>
            <a:prstDash val="solid"/>
          </a:ln>
        </p:spPr>
      </p:sp>
      <p:sp>
        <p:nvSpPr>
          <p:cNvPr id="14" name="Text 12"/>
          <p:cNvSpPr/>
          <p:nvPr/>
        </p:nvSpPr>
        <p:spPr>
          <a:xfrm>
            <a:off x="3364992" y="173736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3867912" y="1737360"/>
            <a:ext cx="1920240" cy="420624"/>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Book</a:t>
            </a:r>
            <a:endParaRPr lang="en-US" sz="1700" dirty="0"/>
          </a:p>
        </p:txBody>
      </p:sp>
      <p:sp>
        <p:nvSpPr>
          <p:cNvPr id="16" name="Text 14"/>
          <p:cNvSpPr/>
          <p:nvPr/>
        </p:nvSpPr>
        <p:spPr>
          <a:xfrm>
            <a:off x="3364992" y="2249424"/>
            <a:ext cx="2487168" cy="1600200"/>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One-click booking with calendar confirmation. No individual negotiation. No stale information.</a:t>
            </a:r>
            <a:endParaRPr lang="en-US" sz="1100" dirty="0"/>
          </a:p>
        </p:txBody>
      </p:sp>
      <p:sp>
        <p:nvSpPr>
          <p:cNvPr id="17" name="Shape 15"/>
          <p:cNvSpPr/>
          <p:nvPr/>
        </p:nvSpPr>
        <p:spPr>
          <a:xfrm>
            <a:off x="6135624" y="1645920"/>
            <a:ext cx="2743200" cy="2331720"/>
          </a:xfrm>
          <a:prstGeom prst="roundRect">
            <a:avLst>
              <a:gd name="adj" fmla="val 3137"/>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6272784" y="1737360"/>
            <a:ext cx="420624" cy="420624"/>
          </a:xfrm>
          <a:prstGeom prst="ellipse">
            <a:avLst/>
          </a:prstGeom>
          <a:solidFill>
            <a:srgbClr val="0A7585"/>
          </a:solidFill>
          <a:ln w="12700">
            <a:solidFill>
              <a:srgbClr val="0A7585"/>
            </a:solidFill>
            <a:prstDash val="solid"/>
          </a:ln>
        </p:spPr>
      </p:sp>
      <p:sp>
        <p:nvSpPr>
          <p:cNvPr id="19" name="Text 17"/>
          <p:cNvSpPr/>
          <p:nvPr/>
        </p:nvSpPr>
        <p:spPr>
          <a:xfrm>
            <a:off x="6272784" y="173736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6775704" y="1737360"/>
            <a:ext cx="1920240" cy="420624"/>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Learn</a:t>
            </a:r>
            <a:endParaRPr lang="en-US" sz="1700" dirty="0"/>
          </a:p>
        </p:txBody>
      </p:sp>
      <p:sp>
        <p:nvSpPr>
          <p:cNvPr id="21" name="Text 19"/>
          <p:cNvSpPr/>
          <p:nvPr/>
        </p:nvSpPr>
        <p:spPr>
          <a:xfrm>
            <a:off x="6272784" y="2249424"/>
            <a:ext cx="2487168" cy="1600200"/>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HD video lesson with a shared whiteboard, AI-graded homework. Everything in Georgian or English.</a:t>
            </a:r>
            <a:endParaRPr lang="en-US" sz="1100" dirty="0"/>
          </a:p>
        </p:txBody>
      </p:sp>
      <p:sp>
        <p:nvSpPr>
          <p:cNvPr id="22" name="Shape 20"/>
          <p:cNvSpPr/>
          <p:nvPr/>
        </p:nvSpPr>
        <p:spPr>
          <a:xfrm>
            <a:off x="320040" y="4160520"/>
            <a:ext cx="8503920" cy="640080"/>
          </a:xfrm>
          <a:prstGeom prst="roundRect">
            <a:avLst>
              <a:gd name="adj" fmla="val 8571"/>
            </a:avLst>
          </a:prstGeom>
          <a:solidFill>
            <a:srgbClr val="EBF4F6"/>
          </a:solidFill>
          <a:ln w="12700">
            <a:solidFill>
              <a:srgbClr val="EBF4F6"/>
            </a:solidFill>
            <a:prstDash val="solid"/>
          </a:ln>
        </p:spPr>
      </p:sp>
      <p:sp>
        <p:nvSpPr>
          <p:cNvPr id="23" name="Text 21"/>
          <p:cNvSpPr/>
          <p:nvPr/>
        </p:nvSpPr>
        <p:spPr>
          <a:xfrm>
            <a:off x="457200" y="4206240"/>
            <a:ext cx="8229600" cy="548640"/>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For the ICP:  A student who needs a physics tutor before finals finds one, books, and starts sessions — same day.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20040" y="91440"/>
            <a:ext cx="228600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03 · WHY NOW</a:t>
            </a:r>
            <a:endParaRPr lang="en-US" sz="800" dirty="0"/>
          </a:p>
        </p:txBody>
      </p:sp>
      <p:sp>
        <p:nvSpPr>
          <p:cNvPr id="4" name="Text 2"/>
          <p:cNvSpPr/>
          <p:nvPr/>
        </p:nvSpPr>
        <p:spPr>
          <a:xfrm>
            <a:off x="320040" y="292608"/>
            <a:ext cx="850392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Three specific changes in the last two years.</a:t>
            </a:r>
            <a:endParaRPr lang="en-US" sz="3000" dirty="0"/>
          </a:p>
        </p:txBody>
      </p:sp>
      <p:sp>
        <p:nvSpPr>
          <p:cNvPr id="5" name="Text 3"/>
          <p:cNvSpPr/>
          <p:nvPr/>
        </p:nvSpPr>
        <p:spPr>
          <a:xfrm>
            <a:off x="6858000" y="91440"/>
            <a:ext cx="2011680" cy="256032"/>
          </a:xfrm>
          <a:prstGeom prst="rect">
            <a:avLst/>
          </a:prstGeom>
          <a:noFill/>
          <a:ln/>
        </p:spPr>
        <p:txBody>
          <a:bodyPr wrap="square" lIns="0" tIns="0" rIns="0" bIns="0"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6" name="Shape 4"/>
          <p:cNvSpPr/>
          <p:nvPr/>
        </p:nvSpPr>
        <p:spPr>
          <a:xfrm>
            <a:off x="320040" y="1005840"/>
            <a:ext cx="8503920" cy="1170432"/>
          </a:xfrm>
          <a:prstGeom prst="roundRect">
            <a:avLst>
              <a:gd name="adj" fmla="val 6250"/>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320040" y="1005840"/>
            <a:ext cx="1005840" cy="347472"/>
          </a:xfrm>
          <a:prstGeom prst="roundRect">
            <a:avLst>
              <a:gd name="adj" fmla="val 15789"/>
            </a:avLst>
          </a:prstGeom>
          <a:solidFill>
            <a:srgbClr val="E8A020"/>
          </a:solidFill>
          <a:ln w="12700">
            <a:solidFill>
              <a:srgbClr val="E8A020"/>
            </a:solidFill>
            <a:prstDash val="solid"/>
          </a:ln>
        </p:spPr>
      </p:sp>
      <p:sp>
        <p:nvSpPr>
          <p:cNvPr id="8" name="Text 6"/>
          <p:cNvSpPr/>
          <p:nvPr/>
        </p:nvSpPr>
        <p:spPr>
          <a:xfrm>
            <a:off x="320040" y="1005840"/>
            <a:ext cx="1005840" cy="347472"/>
          </a:xfrm>
          <a:prstGeom prst="rect">
            <a:avLst/>
          </a:prstGeom>
          <a:noFill/>
          <a:ln/>
        </p:spPr>
        <p:txBody>
          <a:bodyPr wrap="square" lIns="0" tIns="0" rIns="0" bIns="0"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2023–2024</a:t>
            </a:r>
            <a:endParaRPr lang="en-US" sz="900" dirty="0"/>
          </a:p>
        </p:txBody>
      </p:sp>
      <p:sp>
        <p:nvSpPr>
          <p:cNvPr id="9" name="Text 7"/>
          <p:cNvSpPr/>
          <p:nvPr/>
        </p:nvSpPr>
        <p:spPr>
          <a:xfrm>
            <a:off x="1417320" y="1042416"/>
            <a:ext cx="722376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Georgian smartphone penetration crossed 80% for ages 15–24</a:t>
            </a:r>
            <a:endParaRPr lang="en-US" sz="1300" dirty="0"/>
          </a:p>
        </p:txBody>
      </p:sp>
      <p:sp>
        <p:nvSpPr>
          <p:cNvPr id="10" name="Text 8"/>
          <p:cNvSpPr/>
          <p:nvPr/>
        </p:nvSpPr>
        <p:spPr>
          <a:xfrm>
            <a:off x="502920" y="1408176"/>
            <a:ext cx="8229600" cy="658368"/>
          </a:xfrm>
          <a:prstGeom prst="rect">
            <a:avLst/>
          </a:prstGeom>
          <a:noFill/>
          <a:ln/>
        </p:spPr>
        <p:txBody>
          <a:bodyPr wrap="square" lIns="0" tIns="0" rIns="0" bIns="0" rtlCol="0" anchor="ctr"/>
          <a:lstStyle/>
          <a:p>
            <a:pPr indent="0" marL="0">
              <a:buNone/>
            </a:pPr>
            <a:r>
              <a:rPr lang="en-US" sz="1050" dirty="0">
                <a:solidFill>
                  <a:srgbClr val="6B8099"/>
                </a:solidFill>
                <a:latin typeface="Calibri" pitchFamily="34" charset="0"/>
                <a:ea typeface="Calibri" pitchFamily="34" charset="-122"/>
                <a:cs typeface="Calibri" pitchFamily="34" charset="-120"/>
              </a:rPr>
              <a:t>The audience is mobile-first. A web platform reaches them where they already are. This was not true at scale three years ago.</a:t>
            </a:r>
            <a:endParaRPr lang="en-US" sz="1050" dirty="0"/>
          </a:p>
        </p:txBody>
      </p:sp>
      <p:sp>
        <p:nvSpPr>
          <p:cNvPr id="11" name="Shape 9"/>
          <p:cNvSpPr/>
          <p:nvPr/>
        </p:nvSpPr>
        <p:spPr>
          <a:xfrm>
            <a:off x="320040" y="2304288"/>
            <a:ext cx="8503920" cy="1170432"/>
          </a:xfrm>
          <a:prstGeom prst="roundRect">
            <a:avLst>
              <a:gd name="adj" fmla="val 6250"/>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320040" y="2304288"/>
            <a:ext cx="1005840" cy="347472"/>
          </a:xfrm>
          <a:prstGeom prst="roundRect">
            <a:avLst>
              <a:gd name="adj" fmla="val 15789"/>
            </a:avLst>
          </a:prstGeom>
          <a:solidFill>
            <a:srgbClr val="E8A020"/>
          </a:solidFill>
          <a:ln w="12700">
            <a:solidFill>
              <a:srgbClr val="E8A020"/>
            </a:solidFill>
            <a:prstDash val="solid"/>
          </a:ln>
        </p:spPr>
      </p:sp>
      <p:sp>
        <p:nvSpPr>
          <p:cNvPr id="13" name="Text 11"/>
          <p:cNvSpPr/>
          <p:nvPr/>
        </p:nvSpPr>
        <p:spPr>
          <a:xfrm>
            <a:off x="320040" y="2304288"/>
            <a:ext cx="1005840" cy="347472"/>
          </a:xfrm>
          <a:prstGeom prst="rect">
            <a:avLst/>
          </a:prstGeom>
          <a:noFill/>
          <a:ln/>
        </p:spPr>
        <p:txBody>
          <a:bodyPr wrap="square" lIns="0" tIns="0" rIns="0" bIns="0"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2024</a:t>
            </a:r>
            <a:endParaRPr lang="en-US" sz="900" dirty="0"/>
          </a:p>
        </p:txBody>
      </p:sp>
      <p:sp>
        <p:nvSpPr>
          <p:cNvPr id="14" name="Text 12"/>
          <p:cNvSpPr/>
          <p:nvPr/>
        </p:nvSpPr>
        <p:spPr>
          <a:xfrm>
            <a:off x="1417320" y="2340864"/>
            <a:ext cx="722376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AI grading dropped to near-zero marginal cost</a:t>
            </a:r>
            <a:endParaRPr lang="en-US" sz="1300" dirty="0"/>
          </a:p>
        </p:txBody>
      </p:sp>
      <p:sp>
        <p:nvSpPr>
          <p:cNvPr id="15" name="Text 13"/>
          <p:cNvSpPr/>
          <p:nvPr/>
        </p:nvSpPr>
        <p:spPr>
          <a:xfrm>
            <a:off x="502920" y="2706624"/>
            <a:ext cx="8229600" cy="658368"/>
          </a:xfrm>
          <a:prstGeom prst="rect">
            <a:avLst/>
          </a:prstGeom>
          <a:noFill/>
          <a:ln/>
        </p:spPr>
        <p:txBody>
          <a:bodyPr wrap="square" lIns="0" tIns="0" rIns="0" bIns="0" rtlCol="0" anchor="ctr"/>
          <a:lstStyle/>
          <a:p>
            <a:pPr indent="0" marL="0">
              <a:buNone/>
            </a:pPr>
            <a:r>
              <a:rPr lang="en-US" sz="1050" dirty="0">
                <a:solidFill>
                  <a:srgbClr val="6B8099"/>
                </a:solidFill>
                <a:latin typeface="Calibri" pitchFamily="34" charset="0"/>
                <a:ea typeface="Calibri" pitchFamily="34" charset="-122"/>
                <a:cs typeface="Calibri" pitchFamily="34" charset="-120"/>
              </a:rPr>
              <a:t>Claude and Gemini APIs made per-submission homework review viable on a free-tier MVP budget. A six-figure engineering project two years ago.</a:t>
            </a:r>
            <a:endParaRPr lang="en-US" sz="1050" dirty="0"/>
          </a:p>
        </p:txBody>
      </p:sp>
      <p:sp>
        <p:nvSpPr>
          <p:cNvPr id="16" name="Shape 14"/>
          <p:cNvSpPr/>
          <p:nvPr/>
        </p:nvSpPr>
        <p:spPr>
          <a:xfrm>
            <a:off x="320040" y="3602736"/>
            <a:ext cx="8503920" cy="1170432"/>
          </a:xfrm>
          <a:prstGeom prst="roundRect">
            <a:avLst>
              <a:gd name="adj" fmla="val 6250"/>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320040" y="3602736"/>
            <a:ext cx="1005840" cy="347472"/>
          </a:xfrm>
          <a:prstGeom prst="roundRect">
            <a:avLst>
              <a:gd name="adj" fmla="val 15789"/>
            </a:avLst>
          </a:prstGeom>
          <a:solidFill>
            <a:srgbClr val="E8A020"/>
          </a:solidFill>
          <a:ln w="12700">
            <a:solidFill>
              <a:srgbClr val="E8A020"/>
            </a:solidFill>
            <a:prstDash val="solid"/>
          </a:ln>
        </p:spPr>
      </p:sp>
      <p:sp>
        <p:nvSpPr>
          <p:cNvPr id="18" name="Text 16"/>
          <p:cNvSpPr/>
          <p:nvPr/>
        </p:nvSpPr>
        <p:spPr>
          <a:xfrm>
            <a:off x="320040" y="3602736"/>
            <a:ext cx="1005840" cy="347472"/>
          </a:xfrm>
          <a:prstGeom prst="rect">
            <a:avLst/>
          </a:prstGeom>
          <a:noFill/>
          <a:ln/>
        </p:spPr>
        <p:txBody>
          <a:bodyPr wrap="square" lIns="0" tIns="0" rIns="0" bIns="0"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Today</a:t>
            </a:r>
            <a:endParaRPr lang="en-US" sz="900" dirty="0"/>
          </a:p>
        </p:txBody>
      </p:sp>
      <p:sp>
        <p:nvSpPr>
          <p:cNvPr id="19" name="Text 17"/>
          <p:cNvSpPr/>
          <p:nvPr/>
        </p:nvSpPr>
        <p:spPr>
          <a:xfrm>
            <a:off x="1417320" y="3639312"/>
            <a:ext cx="722376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No Georgian-language tutoring platform exists</a:t>
            </a:r>
            <a:endParaRPr lang="en-US" sz="1300" dirty="0"/>
          </a:p>
        </p:txBody>
      </p:sp>
      <p:sp>
        <p:nvSpPr>
          <p:cNvPr id="20" name="Text 18"/>
          <p:cNvSpPr/>
          <p:nvPr/>
        </p:nvSpPr>
        <p:spPr>
          <a:xfrm>
            <a:off x="502920" y="4005072"/>
            <a:ext cx="8229600" cy="658368"/>
          </a:xfrm>
          <a:prstGeom prst="rect">
            <a:avLst/>
          </a:prstGeom>
          <a:noFill/>
          <a:ln/>
        </p:spPr>
        <p:txBody>
          <a:bodyPr wrap="square" lIns="0" tIns="0" rIns="0" bIns="0" rtlCol="0" anchor="ctr"/>
          <a:lstStyle/>
          <a:p>
            <a:pPr indent="0" marL="0">
              <a:buNone/>
            </a:pPr>
            <a:r>
              <a:rPr lang="en-US" sz="1050" dirty="0">
                <a:solidFill>
                  <a:srgbClr val="6B8099"/>
                </a:solidFill>
                <a:latin typeface="Calibri" pitchFamily="34" charset="0"/>
                <a:ea typeface="Calibri" pitchFamily="34" charset="-122"/>
                <a:cs typeface="Calibri" pitchFamily="34" charset="-120"/>
              </a:rPr>
              <a:t>Preply, iTalki, and Tutorful are all English-first. The gap is widening as exam pressure grows. First-mover timing is now.</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20040" y="91440"/>
            <a:ext cx="228600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04 · MARKET SIZE</a:t>
            </a:r>
            <a:endParaRPr lang="en-US" sz="800" dirty="0"/>
          </a:p>
        </p:txBody>
      </p:sp>
      <p:sp>
        <p:nvSpPr>
          <p:cNvPr id="4" name="Text 2"/>
          <p:cNvSpPr/>
          <p:nvPr/>
        </p:nvSpPr>
        <p:spPr>
          <a:xfrm>
            <a:off x="320040" y="292608"/>
            <a:ext cx="850392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Bottom-up from Georgian exam student counts.</a:t>
            </a:r>
            <a:endParaRPr lang="en-US" sz="3000" dirty="0"/>
          </a:p>
        </p:txBody>
      </p:sp>
      <p:sp>
        <p:nvSpPr>
          <p:cNvPr id="5" name="Text 3"/>
          <p:cNvSpPr/>
          <p:nvPr/>
        </p:nvSpPr>
        <p:spPr>
          <a:xfrm>
            <a:off x="6858000" y="91440"/>
            <a:ext cx="2011680" cy="256032"/>
          </a:xfrm>
          <a:prstGeom prst="rect">
            <a:avLst/>
          </a:prstGeom>
          <a:noFill/>
          <a:ln/>
        </p:spPr>
        <p:txBody>
          <a:bodyPr wrap="square" lIns="0" tIns="0" rIns="0" bIns="0"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6" name="Shape 4"/>
          <p:cNvSpPr/>
          <p:nvPr/>
        </p:nvSpPr>
        <p:spPr>
          <a:xfrm>
            <a:off x="320040" y="1005840"/>
            <a:ext cx="8503920" cy="1051560"/>
          </a:xfrm>
          <a:prstGeom prst="roundRect">
            <a:avLst>
              <a:gd name="adj" fmla="val 5217"/>
            </a:avLst>
          </a:prstGeom>
          <a:solidFill>
            <a:srgbClr val="0B1F3A"/>
          </a:solidFill>
          <a:ln w="12700">
            <a:solidFill>
              <a:srgbClr val="0B1F3A"/>
            </a:solidFill>
            <a:prstDash val="solid"/>
          </a:ln>
        </p:spPr>
      </p:sp>
      <p:sp>
        <p:nvSpPr>
          <p:cNvPr id="7" name="Text 5"/>
          <p:cNvSpPr/>
          <p:nvPr/>
        </p:nvSpPr>
        <p:spPr>
          <a:xfrm>
            <a:off x="484632" y="1097280"/>
            <a:ext cx="1097280" cy="274320"/>
          </a:xfrm>
          <a:prstGeom prst="rect">
            <a:avLst/>
          </a:prstGeom>
          <a:noFill/>
          <a:ln/>
        </p:spPr>
        <p:txBody>
          <a:bodyPr wrap="square" lIns="0" tIns="0" rIns="0" bIns="0" rtlCol="0" anchor="ctr"/>
          <a:lstStyle/>
          <a:p>
            <a:pPr indent="0" marL="0">
              <a:buNone/>
            </a:pPr>
            <a:r>
              <a:rPr lang="en-US" sz="900" b="1" spc="100" kern="0" dirty="0">
                <a:solidFill>
                  <a:srgbClr val="E8A020"/>
                </a:solidFill>
                <a:latin typeface="Calibri" pitchFamily="34" charset="0"/>
                <a:ea typeface="Calibri" pitchFamily="34" charset="-122"/>
                <a:cs typeface="Calibri" pitchFamily="34" charset="-120"/>
              </a:rPr>
              <a:t>TAM</a:t>
            </a:r>
            <a:endParaRPr lang="en-US" sz="900" dirty="0"/>
          </a:p>
        </p:txBody>
      </p:sp>
      <p:sp>
        <p:nvSpPr>
          <p:cNvPr id="8" name="Text 6"/>
          <p:cNvSpPr/>
          <p:nvPr/>
        </p:nvSpPr>
        <p:spPr>
          <a:xfrm>
            <a:off x="484632" y="1335024"/>
            <a:ext cx="8174736"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GEL 120M / yr</a:t>
            </a:r>
            <a:endParaRPr lang="en-US" sz="2200" dirty="0"/>
          </a:p>
        </p:txBody>
      </p:sp>
      <p:sp>
        <p:nvSpPr>
          <p:cNvPr id="9" name="Text 7"/>
          <p:cNvSpPr/>
          <p:nvPr/>
        </p:nvSpPr>
        <p:spPr>
          <a:xfrm>
            <a:off x="484632" y="1700784"/>
            <a:ext cx="8174736" cy="274320"/>
          </a:xfrm>
          <a:prstGeom prst="rect">
            <a:avLst/>
          </a:prstGeom>
          <a:noFill/>
          <a:ln/>
        </p:spPr>
        <p:txBody>
          <a:bodyPr wrap="square" lIns="0" tIns="0" rIns="0" bIns="0" rtlCol="0" anchor="ctr"/>
          <a:lstStyle/>
          <a:p>
            <a:pPr indent="0" marL="0">
              <a:buNone/>
            </a:pPr>
            <a:r>
              <a:rPr lang="en-US" sz="900" dirty="0">
                <a:solidFill>
                  <a:srgbClr val="9BBDD4"/>
                </a:solidFill>
                <a:latin typeface="Calibri" pitchFamily="34" charset="0"/>
                <a:ea typeface="Calibri" pitchFamily="34" charset="-122"/>
                <a:cs typeface="Calibri" pitchFamily="34" charset="-120"/>
              </a:rPr>
              <a:t>50,000 exam students × GEL 2,400 avg annual tutoring spend</a:t>
            </a:r>
            <a:endParaRPr lang="en-US" sz="900" dirty="0"/>
          </a:p>
        </p:txBody>
      </p:sp>
      <p:sp>
        <p:nvSpPr>
          <p:cNvPr id="10" name="Shape 8"/>
          <p:cNvSpPr/>
          <p:nvPr/>
        </p:nvSpPr>
        <p:spPr>
          <a:xfrm>
            <a:off x="1143000" y="2194560"/>
            <a:ext cx="6858000" cy="1051560"/>
          </a:xfrm>
          <a:prstGeom prst="roundRect">
            <a:avLst>
              <a:gd name="adj" fmla="val 5217"/>
            </a:avLst>
          </a:prstGeom>
          <a:solidFill>
            <a:srgbClr val="0D2D40"/>
          </a:solidFill>
          <a:ln w="12700">
            <a:solidFill>
              <a:srgbClr val="0D2D40"/>
            </a:solidFill>
            <a:prstDash val="solid"/>
          </a:ln>
        </p:spPr>
      </p:sp>
      <p:sp>
        <p:nvSpPr>
          <p:cNvPr id="11" name="Text 9"/>
          <p:cNvSpPr/>
          <p:nvPr/>
        </p:nvSpPr>
        <p:spPr>
          <a:xfrm>
            <a:off x="1307592" y="2286000"/>
            <a:ext cx="1097280" cy="274320"/>
          </a:xfrm>
          <a:prstGeom prst="rect">
            <a:avLst/>
          </a:prstGeom>
          <a:noFill/>
          <a:ln/>
        </p:spPr>
        <p:txBody>
          <a:bodyPr wrap="square" lIns="0" tIns="0" rIns="0" bIns="0" rtlCol="0" anchor="ctr"/>
          <a:lstStyle/>
          <a:p>
            <a:pPr indent="0" marL="0">
              <a:buNone/>
            </a:pPr>
            <a:r>
              <a:rPr lang="en-US" sz="900" b="1" spc="100" kern="0" dirty="0">
                <a:solidFill>
                  <a:srgbClr val="E8A020"/>
                </a:solidFill>
                <a:latin typeface="Calibri" pitchFamily="34" charset="0"/>
                <a:ea typeface="Calibri" pitchFamily="34" charset="-122"/>
                <a:cs typeface="Calibri" pitchFamily="34" charset="-120"/>
              </a:rPr>
              <a:t>SAM</a:t>
            </a:r>
            <a:endParaRPr lang="en-US" sz="900" dirty="0"/>
          </a:p>
        </p:txBody>
      </p:sp>
      <p:sp>
        <p:nvSpPr>
          <p:cNvPr id="12" name="Text 10"/>
          <p:cNvSpPr/>
          <p:nvPr/>
        </p:nvSpPr>
        <p:spPr>
          <a:xfrm>
            <a:off x="1307592" y="2523744"/>
            <a:ext cx="6528816"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GEL 36M / yr</a:t>
            </a:r>
            <a:endParaRPr lang="en-US" sz="2200" dirty="0"/>
          </a:p>
        </p:txBody>
      </p:sp>
      <p:sp>
        <p:nvSpPr>
          <p:cNvPr id="13" name="Text 11"/>
          <p:cNvSpPr/>
          <p:nvPr/>
        </p:nvSpPr>
        <p:spPr>
          <a:xfrm>
            <a:off x="1307592" y="2889504"/>
            <a:ext cx="6528816" cy="274320"/>
          </a:xfrm>
          <a:prstGeom prst="rect">
            <a:avLst/>
          </a:prstGeom>
          <a:noFill/>
          <a:ln/>
        </p:spPr>
        <p:txBody>
          <a:bodyPr wrap="square" lIns="0" tIns="0" rIns="0" bIns="0" rtlCol="0" anchor="ctr"/>
          <a:lstStyle/>
          <a:p>
            <a:pPr indent="0" marL="0">
              <a:buNone/>
            </a:pPr>
            <a:r>
              <a:rPr lang="en-US" sz="900" dirty="0">
                <a:solidFill>
                  <a:srgbClr val="9BBDD4"/>
                </a:solidFill>
                <a:latin typeface="Calibri" pitchFamily="34" charset="0"/>
                <a:ea typeface="Calibri" pitchFamily="34" charset="-122"/>
                <a:cs typeface="Calibri" pitchFamily="34" charset="-120"/>
              </a:rPr>
              <a:t>30% willing to use a structured online platform (validated by usability testing)</a:t>
            </a:r>
            <a:endParaRPr lang="en-US" sz="900" dirty="0"/>
          </a:p>
        </p:txBody>
      </p:sp>
      <p:sp>
        <p:nvSpPr>
          <p:cNvPr id="14" name="Shape 12"/>
          <p:cNvSpPr/>
          <p:nvPr/>
        </p:nvSpPr>
        <p:spPr>
          <a:xfrm>
            <a:off x="1920240" y="3383280"/>
            <a:ext cx="5303520" cy="1051560"/>
          </a:xfrm>
          <a:prstGeom prst="roundRect">
            <a:avLst>
              <a:gd name="adj" fmla="val 5217"/>
            </a:avLst>
          </a:prstGeom>
          <a:solidFill>
            <a:srgbClr val="0A7585"/>
          </a:solidFill>
          <a:ln w="12700">
            <a:solidFill>
              <a:srgbClr val="0A7585"/>
            </a:solidFill>
            <a:prstDash val="solid"/>
          </a:ln>
        </p:spPr>
      </p:sp>
      <p:sp>
        <p:nvSpPr>
          <p:cNvPr id="15" name="Text 13"/>
          <p:cNvSpPr/>
          <p:nvPr/>
        </p:nvSpPr>
        <p:spPr>
          <a:xfrm>
            <a:off x="2084832" y="3474720"/>
            <a:ext cx="1097280" cy="274320"/>
          </a:xfrm>
          <a:prstGeom prst="rect">
            <a:avLst/>
          </a:prstGeom>
          <a:noFill/>
          <a:ln/>
        </p:spPr>
        <p:txBody>
          <a:bodyPr wrap="square" lIns="0" tIns="0" rIns="0" bIns="0" rtlCol="0" anchor="ctr"/>
          <a:lstStyle/>
          <a:p>
            <a:pPr indent="0" marL="0">
              <a:buNone/>
            </a:pPr>
            <a:r>
              <a:rPr lang="en-US" sz="900" b="1" spc="100" kern="0" dirty="0">
                <a:solidFill>
                  <a:srgbClr val="E8A020"/>
                </a:solidFill>
                <a:latin typeface="Calibri" pitchFamily="34" charset="0"/>
                <a:ea typeface="Calibri" pitchFamily="34" charset="-122"/>
                <a:cs typeface="Calibri" pitchFamily="34" charset="-120"/>
              </a:rPr>
              <a:t>SOM Year 1</a:t>
            </a:r>
            <a:endParaRPr lang="en-US" sz="900" dirty="0"/>
          </a:p>
        </p:txBody>
      </p:sp>
      <p:sp>
        <p:nvSpPr>
          <p:cNvPr id="16" name="Text 14"/>
          <p:cNvSpPr/>
          <p:nvPr/>
        </p:nvSpPr>
        <p:spPr>
          <a:xfrm>
            <a:off x="2084832" y="3712464"/>
            <a:ext cx="4974336"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GEL 50,400</a:t>
            </a:r>
            <a:endParaRPr lang="en-US" sz="2200" dirty="0"/>
          </a:p>
        </p:txBody>
      </p:sp>
      <p:sp>
        <p:nvSpPr>
          <p:cNvPr id="17" name="Text 15"/>
          <p:cNvSpPr/>
          <p:nvPr/>
        </p:nvSpPr>
        <p:spPr>
          <a:xfrm>
            <a:off x="2084832" y="4078224"/>
            <a:ext cx="4974336"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200 active students/mo × 24 lesson weeks × GEL 35 avg lesson × 15% commission</a:t>
            </a:r>
            <a:endParaRPr lang="en-US" sz="900" dirty="0"/>
          </a:p>
        </p:txBody>
      </p:sp>
      <p:sp>
        <p:nvSpPr>
          <p:cNvPr id="18" name="Text 16"/>
          <p:cNvSpPr/>
          <p:nvPr/>
        </p:nvSpPr>
        <p:spPr>
          <a:xfrm>
            <a:off x="320040" y="4663440"/>
            <a:ext cx="8503920" cy="274320"/>
          </a:xfrm>
          <a:prstGeom prst="rect">
            <a:avLst/>
          </a:prstGeom>
          <a:noFill/>
          <a:ln/>
        </p:spPr>
        <p:txBody>
          <a:bodyPr wrap="square" lIns="0" tIns="0" rIns="0" bIns="0" rtlCol="0" anchor="ctr"/>
          <a:lstStyle/>
          <a:p>
            <a:pPr algn="ctr" indent="0" marL="0">
              <a:buNone/>
            </a:pPr>
            <a:r>
              <a:rPr lang="en-US" sz="950" i="1" dirty="0">
                <a:solidFill>
                  <a:srgbClr val="6B8099"/>
                </a:solidFill>
                <a:latin typeface="Calibri" pitchFamily="34" charset="0"/>
                <a:ea typeface="Calibri" pitchFamily="34" charset="-122"/>
                <a:cs typeface="Calibri" pitchFamily="34" charset="-120"/>
              </a:rPr>
              <a:t>All arithmetic shown. No top-down industry report figures used.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20040" y="91440"/>
            <a:ext cx="228600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05 · PRODUCT</a:t>
            </a:r>
            <a:endParaRPr lang="en-US" sz="800" dirty="0"/>
          </a:p>
        </p:txBody>
      </p:sp>
      <p:sp>
        <p:nvSpPr>
          <p:cNvPr id="4" name="Text 2"/>
          <p:cNvSpPr/>
          <p:nvPr/>
        </p:nvSpPr>
        <p:spPr>
          <a:xfrm>
            <a:off x="320040" y="292608"/>
            <a:ext cx="850392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Live MVP — deployed and accessible now.</a:t>
            </a:r>
            <a:endParaRPr lang="en-US" sz="3000" dirty="0"/>
          </a:p>
        </p:txBody>
      </p:sp>
      <p:sp>
        <p:nvSpPr>
          <p:cNvPr id="5" name="Text 3"/>
          <p:cNvSpPr/>
          <p:nvPr/>
        </p:nvSpPr>
        <p:spPr>
          <a:xfrm>
            <a:off x="6858000" y="91440"/>
            <a:ext cx="2011680" cy="256032"/>
          </a:xfrm>
          <a:prstGeom prst="rect">
            <a:avLst/>
          </a:prstGeom>
          <a:noFill/>
          <a:ln/>
        </p:spPr>
        <p:txBody>
          <a:bodyPr wrap="square" lIns="0" tIns="0" rIns="0" bIns="0"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6" name="Shape 4"/>
          <p:cNvSpPr/>
          <p:nvPr/>
        </p:nvSpPr>
        <p:spPr>
          <a:xfrm>
            <a:off x="320040" y="1005840"/>
            <a:ext cx="8503920" cy="475488"/>
          </a:xfrm>
          <a:prstGeom prst="roundRect">
            <a:avLst>
              <a:gd name="adj" fmla="val 11538"/>
            </a:avLst>
          </a:prstGeom>
          <a:solidFill>
            <a:srgbClr val="E8A020"/>
          </a:solidFill>
          <a:ln w="12700">
            <a:solidFill>
              <a:srgbClr val="E8A020"/>
            </a:solidFill>
            <a:prstDash val="solid"/>
          </a:ln>
        </p:spPr>
      </p:sp>
      <p:sp>
        <p:nvSpPr>
          <p:cNvPr id="7" name="Text 5"/>
          <p:cNvSpPr/>
          <p:nvPr/>
        </p:nvSpPr>
        <p:spPr>
          <a:xfrm>
            <a:off x="320040" y="1005840"/>
            <a:ext cx="8503920" cy="475488"/>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tutoring-lyart.vercel.app/en</a:t>
            </a:r>
            <a:endParaRPr lang="en-US" sz="1800" dirty="0"/>
          </a:p>
        </p:txBody>
      </p:sp>
      <p:sp>
        <p:nvSpPr>
          <p:cNvPr id="8" name="Shape 6"/>
          <p:cNvSpPr/>
          <p:nvPr/>
        </p:nvSpPr>
        <p:spPr>
          <a:xfrm>
            <a:off x="320040" y="1600200"/>
            <a:ext cx="5303520" cy="3246120"/>
          </a:xfrm>
          <a:prstGeom prst="roundRect">
            <a:avLst>
              <a:gd name="adj" fmla="val 2254"/>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9" name="Shape 7"/>
          <p:cNvSpPr/>
          <p:nvPr/>
        </p:nvSpPr>
        <p:spPr>
          <a:xfrm>
            <a:off x="320040" y="1600200"/>
            <a:ext cx="5303520" cy="347472"/>
          </a:xfrm>
          <a:prstGeom prst="rect">
            <a:avLst/>
          </a:prstGeom>
          <a:solidFill>
            <a:srgbClr val="E2E8EF"/>
          </a:solidFill>
          <a:ln w="12700">
            <a:solidFill>
              <a:srgbClr val="E2E8EF"/>
            </a:solidFill>
            <a:prstDash val="solid"/>
          </a:ln>
        </p:spPr>
      </p:sp>
      <p:sp>
        <p:nvSpPr>
          <p:cNvPr id="10" name="Shape 8"/>
          <p:cNvSpPr/>
          <p:nvPr/>
        </p:nvSpPr>
        <p:spPr>
          <a:xfrm>
            <a:off x="512064" y="1719072"/>
            <a:ext cx="137160" cy="137160"/>
          </a:xfrm>
          <a:prstGeom prst="ellipse">
            <a:avLst/>
          </a:prstGeom>
          <a:solidFill>
            <a:srgbClr val="FF6059"/>
          </a:solidFill>
          <a:ln w="12700">
            <a:solidFill>
              <a:srgbClr val="FF6059"/>
            </a:solidFill>
            <a:prstDash val="solid"/>
          </a:ln>
        </p:spPr>
      </p:sp>
      <p:sp>
        <p:nvSpPr>
          <p:cNvPr id="11" name="Shape 9"/>
          <p:cNvSpPr/>
          <p:nvPr/>
        </p:nvSpPr>
        <p:spPr>
          <a:xfrm>
            <a:off x="731520" y="1719072"/>
            <a:ext cx="137160" cy="137160"/>
          </a:xfrm>
          <a:prstGeom prst="ellipse">
            <a:avLst/>
          </a:prstGeom>
          <a:solidFill>
            <a:srgbClr val="FEBC2E"/>
          </a:solidFill>
          <a:ln w="12700">
            <a:solidFill>
              <a:srgbClr val="FEBC2E"/>
            </a:solidFill>
            <a:prstDash val="solid"/>
          </a:ln>
        </p:spPr>
      </p:sp>
      <p:sp>
        <p:nvSpPr>
          <p:cNvPr id="12" name="Shape 10"/>
          <p:cNvSpPr/>
          <p:nvPr/>
        </p:nvSpPr>
        <p:spPr>
          <a:xfrm>
            <a:off x="950976" y="1719072"/>
            <a:ext cx="137160" cy="137160"/>
          </a:xfrm>
          <a:prstGeom prst="ellipse">
            <a:avLst/>
          </a:prstGeom>
          <a:solidFill>
            <a:srgbClr val="28C840"/>
          </a:solidFill>
          <a:ln w="12700">
            <a:solidFill>
              <a:srgbClr val="28C840"/>
            </a:solidFill>
            <a:prstDash val="solid"/>
          </a:ln>
        </p:spPr>
      </p:sp>
      <p:sp>
        <p:nvSpPr>
          <p:cNvPr id="13" name="Shape 11"/>
          <p:cNvSpPr/>
          <p:nvPr/>
        </p:nvSpPr>
        <p:spPr>
          <a:xfrm>
            <a:off x="1170432" y="1673352"/>
            <a:ext cx="3291840" cy="228600"/>
          </a:xfrm>
          <a:prstGeom prst="roundRect">
            <a:avLst>
              <a:gd name="adj" fmla="val 16000"/>
            </a:avLst>
          </a:prstGeom>
          <a:solidFill>
            <a:srgbClr val="FFFFFF"/>
          </a:solidFill>
          <a:ln w="12700">
            <a:solidFill>
              <a:srgbClr val="D0D8E0"/>
            </a:solidFill>
            <a:prstDash val="solid"/>
          </a:ln>
        </p:spPr>
      </p:sp>
      <p:sp>
        <p:nvSpPr>
          <p:cNvPr id="14" name="Text 12"/>
          <p:cNvSpPr/>
          <p:nvPr/>
        </p:nvSpPr>
        <p:spPr>
          <a:xfrm>
            <a:off x="1170432" y="1673352"/>
            <a:ext cx="3291840" cy="228600"/>
          </a:xfrm>
          <a:prstGeom prst="rect">
            <a:avLst/>
          </a:prstGeom>
          <a:noFill/>
          <a:ln/>
        </p:spPr>
        <p:txBody>
          <a:bodyPr wrap="square" lIns="0" tIns="0" rIns="0" bIns="0" rtlCol="0" anchor="ctr"/>
          <a:lstStyle/>
          <a:p>
            <a:pPr algn="ctr" indent="0" marL="0">
              <a:buNone/>
            </a:pPr>
            <a:r>
              <a:rPr lang="en-US" sz="700" dirty="0">
                <a:solidFill>
                  <a:srgbClr val="6B8099"/>
                </a:solidFill>
                <a:latin typeface="Calibri" pitchFamily="34" charset="0"/>
                <a:ea typeface="Calibri" pitchFamily="34" charset="-122"/>
                <a:cs typeface="Calibri" pitchFamily="34" charset="-120"/>
              </a:rPr>
              <a:t>https://tutoring-lyart.vercel.app/en</a:t>
            </a:r>
            <a:endParaRPr lang="en-US" sz="700" dirty="0"/>
          </a:p>
        </p:txBody>
      </p:sp>
      <p:sp>
        <p:nvSpPr>
          <p:cNvPr id="15" name="Shape 13"/>
          <p:cNvSpPr/>
          <p:nvPr/>
        </p:nvSpPr>
        <p:spPr>
          <a:xfrm>
            <a:off x="320040" y="1947672"/>
            <a:ext cx="5303520" cy="320040"/>
          </a:xfrm>
          <a:prstGeom prst="rect">
            <a:avLst/>
          </a:prstGeom>
          <a:solidFill>
            <a:srgbClr val="0B1F3A"/>
          </a:solidFill>
          <a:ln w="12700">
            <a:solidFill>
              <a:srgbClr val="0B1F3A"/>
            </a:solidFill>
            <a:prstDash val="solid"/>
          </a:ln>
        </p:spPr>
      </p:sp>
      <p:sp>
        <p:nvSpPr>
          <p:cNvPr id="16" name="Text 14"/>
          <p:cNvSpPr/>
          <p:nvPr/>
        </p:nvSpPr>
        <p:spPr>
          <a:xfrm>
            <a:off x="411480" y="1947672"/>
            <a:ext cx="1188720" cy="320040"/>
          </a:xfrm>
          <a:prstGeom prst="rect">
            <a:avLst/>
          </a:prstGeom>
          <a:noFill/>
          <a:ln/>
        </p:spPr>
        <p:txBody>
          <a:bodyPr wrap="square" lIns="0" tIns="0" rIns="0" bIns="0" rtlCol="0" anchor="ctr"/>
          <a:lstStyle/>
          <a:p>
            <a:pP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17" name="Text 15"/>
          <p:cNvSpPr/>
          <p:nvPr/>
        </p:nvSpPr>
        <p:spPr>
          <a:xfrm>
            <a:off x="1691640" y="1947672"/>
            <a:ext cx="1097280" cy="320040"/>
          </a:xfrm>
          <a:prstGeom prst="rect">
            <a:avLst/>
          </a:prstGeom>
          <a:noFill/>
          <a:ln/>
        </p:spPr>
        <p:txBody>
          <a:bodyPr wrap="square" lIns="0" tIns="0" rIns="0" bIns="0" rtlCol="0" anchor="ctr"/>
          <a:lstStyle/>
          <a:p>
            <a:pPr indent="0" marL="0">
              <a:buNone/>
            </a:pPr>
            <a:r>
              <a:rPr lang="en-US" sz="800" dirty="0">
                <a:solidFill>
                  <a:srgbClr val="9BB8CC"/>
                </a:solidFill>
                <a:latin typeface="Calibri" pitchFamily="34" charset="0"/>
                <a:ea typeface="Calibri" pitchFamily="34" charset="-122"/>
                <a:cs typeface="Calibri" pitchFamily="34" charset="-120"/>
              </a:rPr>
              <a:t>Tutors</a:t>
            </a:r>
            <a:endParaRPr lang="en-US" sz="800" dirty="0"/>
          </a:p>
        </p:txBody>
      </p:sp>
      <p:sp>
        <p:nvSpPr>
          <p:cNvPr id="18" name="Text 16"/>
          <p:cNvSpPr/>
          <p:nvPr/>
        </p:nvSpPr>
        <p:spPr>
          <a:xfrm>
            <a:off x="2880360" y="1947672"/>
            <a:ext cx="1097280" cy="320040"/>
          </a:xfrm>
          <a:prstGeom prst="rect">
            <a:avLst/>
          </a:prstGeom>
          <a:noFill/>
          <a:ln/>
        </p:spPr>
        <p:txBody>
          <a:bodyPr wrap="square" lIns="0" tIns="0" rIns="0" bIns="0" rtlCol="0" anchor="ctr"/>
          <a:lstStyle/>
          <a:p>
            <a:pPr indent="0" marL="0">
              <a:buNone/>
            </a:pPr>
            <a:r>
              <a:rPr lang="en-US" sz="800" dirty="0">
                <a:solidFill>
                  <a:srgbClr val="9BB8CC"/>
                </a:solidFill>
                <a:latin typeface="Calibri" pitchFamily="34" charset="0"/>
                <a:ea typeface="Calibri" pitchFamily="34" charset="-122"/>
                <a:cs typeface="Calibri" pitchFamily="34" charset="-120"/>
              </a:rPr>
              <a:t>EN | ka</a:t>
            </a:r>
            <a:endParaRPr lang="en-US" sz="800" dirty="0"/>
          </a:p>
        </p:txBody>
      </p:sp>
      <p:sp>
        <p:nvSpPr>
          <p:cNvPr id="19" name="Text 17"/>
          <p:cNvSpPr/>
          <p:nvPr/>
        </p:nvSpPr>
        <p:spPr>
          <a:xfrm>
            <a:off x="4069080" y="1947672"/>
            <a:ext cx="1097280" cy="320040"/>
          </a:xfrm>
          <a:prstGeom prst="rect">
            <a:avLst/>
          </a:prstGeom>
          <a:noFill/>
          <a:ln/>
        </p:spPr>
        <p:txBody>
          <a:bodyPr wrap="square" lIns="0" tIns="0" rIns="0" bIns="0" rtlCol="0" anchor="ctr"/>
          <a:lstStyle/>
          <a:p>
            <a:pPr indent="0" marL="0">
              <a:buNone/>
            </a:pPr>
            <a:r>
              <a:rPr lang="en-US" sz="800" dirty="0">
                <a:solidFill>
                  <a:srgbClr val="9BB8CC"/>
                </a:solidFill>
                <a:latin typeface="Calibri" pitchFamily="34" charset="0"/>
                <a:ea typeface="Calibri" pitchFamily="34" charset="-122"/>
                <a:cs typeface="Calibri" pitchFamily="34" charset="-120"/>
              </a:rPr>
              <a:t>Sign in</a:t>
            </a:r>
            <a:endParaRPr lang="en-US" sz="800" dirty="0"/>
          </a:p>
        </p:txBody>
      </p:sp>
      <p:sp>
        <p:nvSpPr>
          <p:cNvPr id="20" name="Shape 18"/>
          <p:cNvSpPr/>
          <p:nvPr/>
        </p:nvSpPr>
        <p:spPr>
          <a:xfrm>
            <a:off x="320040" y="2267712"/>
            <a:ext cx="5303520" cy="1005840"/>
          </a:xfrm>
          <a:prstGeom prst="rect">
            <a:avLst/>
          </a:prstGeom>
          <a:solidFill>
            <a:srgbClr val="EBF4F6"/>
          </a:solidFill>
          <a:ln w="12700">
            <a:solidFill>
              <a:srgbClr val="EBF4F6"/>
            </a:solidFill>
            <a:prstDash val="solid"/>
          </a:ln>
        </p:spPr>
      </p:sp>
      <p:sp>
        <p:nvSpPr>
          <p:cNvPr id="21" name="Text 19"/>
          <p:cNvSpPr/>
          <p:nvPr/>
        </p:nvSpPr>
        <p:spPr>
          <a:xfrm>
            <a:off x="457200" y="2331720"/>
            <a:ext cx="466344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Find the perfect tutor. Learn anything.</a:t>
            </a:r>
            <a:endParaRPr lang="en-US" sz="1300" dirty="0"/>
          </a:p>
        </p:txBody>
      </p:sp>
      <p:sp>
        <p:nvSpPr>
          <p:cNvPr id="22" name="Text 20"/>
          <p:cNvSpPr/>
          <p:nvPr/>
        </p:nvSpPr>
        <p:spPr>
          <a:xfrm>
            <a:off x="457200" y="2679192"/>
            <a:ext cx="4663440" cy="201168"/>
          </a:xfrm>
          <a:prstGeom prst="rect">
            <a:avLst/>
          </a:prstGeom>
          <a:noFill/>
          <a:ln/>
        </p:spPr>
        <p:txBody>
          <a:bodyPr wrap="square" lIns="0" tIns="0" rIns="0" bIns="0" rtlCol="0" anchor="ctr"/>
          <a:lstStyle/>
          <a:p>
            <a:pPr indent="0" marL="0">
              <a:buNone/>
            </a:pPr>
            <a:r>
              <a:rPr lang="en-US" sz="850" dirty="0">
                <a:solidFill>
                  <a:srgbClr val="6B8099"/>
                </a:solidFill>
                <a:latin typeface="Calibri" pitchFamily="34" charset="0"/>
                <a:ea typeface="Calibri" pitchFamily="34" charset="-122"/>
                <a:cs typeface="Calibri" pitchFamily="34" charset="-120"/>
              </a:rPr>
              <a:t>Connect with verified tutors in 50+ subjects.</a:t>
            </a:r>
            <a:endParaRPr lang="en-US" sz="850" dirty="0"/>
          </a:p>
        </p:txBody>
      </p:sp>
      <p:sp>
        <p:nvSpPr>
          <p:cNvPr id="23" name="Shape 21"/>
          <p:cNvSpPr/>
          <p:nvPr/>
        </p:nvSpPr>
        <p:spPr>
          <a:xfrm>
            <a:off x="457200" y="2916936"/>
            <a:ext cx="1234440" cy="246888"/>
          </a:xfrm>
          <a:prstGeom prst="roundRect">
            <a:avLst>
              <a:gd name="adj" fmla="val 18519"/>
            </a:avLst>
          </a:prstGeom>
          <a:solidFill>
            <a:srgbClr val="0A7585"/>
          </a:solidFill>
          <a:ln w="12700">
            <a:solidFill>
              <a:srgbClr val="0A7585"/>
            </a:solidFill>
            <a:prstDash val="solid"/>
          </a:ln>
        </p:spPr>
      </p:sp>
      <p:sp>
        <p:nvSpPr>
          <p:cNvPr id="24" name="Text 22"/>
          <p:cNvSpPr/>
          <p:nvPr/>
        </p:nvSpPr>
        <p:spPr>
          <a:xfrm>
            <a:off x="457200" y="2916936"/>
            <a:ext cx="1234440" cy="24688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Browse tutors</a:t>
            </a:r>
            <a:endParaRPr lang="en-US" sz="750" dirty="0"/>
          </a:p>
        </p:txBody>
      </p:sp>
      <p:sp>
        <p:nvSpPr>
          <p:cNvPr id="25" name="Shape 23"/>
          <p:cNvSpPr/>
          <p:nvPr/>
        </p:nvSpPr>
        <p:spPr>
          <a:xfrm>
            <a:off x="1764792" y="2916936"/>
            <a:ext cx="1005840" cy="246888"/>
          </a:xfrm>
          <a:prstGeom prst="roundRect">
            <a:avLst>
              <a:gd name="adj" fmla="val 18519"/>
            </a:avLst>
          </a:prstGeom>
          <a:solidFill>
            <a:srgbClr val="FFFFFF"/>
          </a:solidFill>
          <a:ln w="12700">
            <a:solidFill>
              <a:srgbClr val="D0D8E0"/>
            </a:solidFill>
            <a:prstDash val="solid"/>
          </a:ln>
        </p:spPr>
      </p:sp>
      <p:sp>
        <p:nvSpPr>
          <p:cNvPr id="26" name="Text 24"/>
          <p:cNvSpPr/>
          <p:nvPr/>
        </p:nvSpPr>
        <p:spPr>
          <a:xfrm>
            <a:off x="1764792" y="2916936"/>
            <a:ext cx="1005840" cy="246888"/>
          </a:xfrm>
          <a:prstGeom prst="rect">
            <a:avLst/>
          </a:prstGeom>
          <a:noFill/>
          <a:ln/>
        </p:spPr>
        <p:txBody>
          <a:bodyPr wrap="square" lIns="0" tIns="0" rIns="0" bIns="0" rtlCol="0" anchor="ctr"/>
          <a:lstStyle/>
          <a:p>
            <a:pPr algn="ctr" indent="0" marL="0">
              <a:buNone/>
            </a:pPr>
            <a:r>
              <a:rPr lang="en-US" sz="750" dirty="0">
                <a:solidFill>
                  <a:srgbClr val="0B1F3A"/>
                </a:solidFill>
                <a:latin typeface="Calibri" pitchFamily="34" charset="0"/>
                <a:ea typeface="Calibri" pitchFamily="34" charset="-122"/>
                <a:cs typeface="Calibri" pitchFamily="34" charset="-120"/>
              </a:rPr>
              <a:t>Get started</a:t>
            </a:r>
            <a:endParaRPr lang="en-US" sz="750" dirty="0"/>
          </a:p>
        </p:txBody>
      </p:sp>
      <p:sp>
        <p:nvSpPr>
          <p:cNvPr id="27" name="Shape 25"/>
          <p:cNvSpPr/>
          <p:nvPr/>
        </p:nvSpPr>
        <p:spPr>
          <a:xfrm>
            <a:off x="384048" y="3310128"/>
            <a:ext cx="1600200"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28" name="Shape 26"/>
          <p:cNvSpPr/>
          <p:nvPr/>
        </p:nvSpPr>
        <p:spPr>
          <a:xfrm>
            <a:off x="493776" y="3383280"/>
            <a:ext cx="420624" cy="420624"/>
          </a:xfrm>
          <a:prstGeom prst="ellipse">
            <a:avLst/>
          </a:prstGeom>
          <a:solidFill>
            <a:srgbClr val="0A7585"/>
          </a:solidFill>
          <a:ln w="12700">
            <a:solidFill>
              <a:srgbClr val="0A7585"/>
            </a:solidFill>
            <a:prstDash val="solid"/>
          </a:ln>
        </p:spPr>
      </p:sp>
      <p:sp>
        <p:nvSpPr>
          <p:cNvPr id="29" name="Text 27"/>
          <p:cNvSpPr/>
          <p:nvPr/>
        </p:nvSpPr>
        <p:spPr>
          <a:xfrm>
            <a:off x="493776" y="338328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0" name="Text 28"/>
          <p:cNvSpPr/>
          <p:nvPr/>
        </p:nvSpPr>
        <p:spPr>
          <a:xfrm>
            <a:off x="969264" y="3410712"/>
            <a:ext cx="932688" cy="182880"/>
          </a:xfrm>
          <a:prstGeom prst="rect">
            <a:avLst/>
          </a:prstGeom>
          <a:noFill/>
          <a:ln/>
        </p:spPr>
        <p:txBody>
          <a:bodyPr wrap="square" lIns="0" tIns="0" rIns="0" bIns="0" rtlCol="0" anchor="ctr"/>
          <a:lstStyle/>
          <a:p>
            <a:pPr indent="0" marL="0">
              <a:buNone/>
            </a:pPr>
            <a:r>
              <a:rPr lang="en-US" sz="800" b="1" dirty="0">
                <a:solidFill>
                  <a:srgbClr val="0B1F3A"/>
                </a:solidFill>
                <a:latin typeface="Calibri" pitchFamily="34" charset="0"/>
                <a:ea typeface="Calibri" pitchFamily="34" charset="-122"/>
                <a:cs typeface="Calibri" pitchFamily="34" charset="-120"/>
              </a:rPr>
              <a:t>Amelia R.</a:t>
            </a:r>
            <a:endParaRPr lang="en-US" sz="800" dirty="0"/>
          </a:p>
        </p:txBody>
      </p:sp>
      <p:sp>
        <p:nvSpPr>
          <p:cNvPr id="31" name="Text 29"/>
          <p:cNvSpPr/>
          <p:nvPr/>
        </p:nvSpPr>
        <p:spPr>
          <a:xfrm>
            <a:off x="969264" y="3584448"/>
            <a:ext cx="932688" cy="164592"/>
          </a:xfrm>
          <a:prstGeom prst="rect">
            <a:avLst/>
          </a:prstGeom>
          <a:noFill/>
          <a:ln/>
        </p:spPr>
        <p:txBody>
          <a:bodyPr wrap="square" lIns="0" tIns="0" rIns="0" bIns="0" rtlCol="0" anchor="ctr"/>
          <a:lstStyle/>
          <a:p>
            <a:pPr indent="0" marL="0">
              <a:buNone/>
            </a:pPr>
            <a:r>
              <a:rPr lang="en-US" sz="750" dirty="0">
                <a:solidFill>
                  <a:srgbClr val="6B8099"/>
                </a:solidFill>
                <a:latin typeface="Calibri" pitchFamily="34" charset="0"/>
                <a:ea typeface="Calibri" pitchFamily="34" charset="-122"/>
                <a:cs typeface="Calibri" pitchFamily="34" charset="-120"/>
              </a:rPr>
              <a:t>Mathematics</a:t>
            </a:r>
            <a:endParaRPr lang="en-US" sz="750" dirty="0"/>
          </a:p>
        </p:txBody>
      </p:sp>
      <p:sp>
        <p:nvSpPr>
          <p:cNvPr id="32" name="Text 30"/>
          <p:cNvSpPr/>
          <p:nvPr/>
        </p:nvSpPr>
        <p:spPr>
          <a:xfrm>
            <a:off x="493776" y="3822192"/>
            <a:ext cx="658368" cy="182880"/>
          </a:xfrm>
          <a:prstGeom prst="rect">
            <a:avLst/>
          </a:prstGeom>
          <a:noFill/>
          <a:ln/>
        </p:spPr>
        <p:txBody>
          <a:bodyPr wrap="square" lIns="0" tIns="0" rIns="0" bIns="0"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$32/hr</a:t>
            </a:r>
            <a:endParaRPr lang="en-US" sz="800" dirty="0"/>
          </a:p>
        </p:txBody>
      </p:sp>
      <p:sp>
        <p:nvSpPr>
          <p:cNvPr id="33" name="Text 31"/>
          <p:cNvSpPr/>
          <p:nvPr/>
        </p:nvSpPr>
        <p:spPr>
          <a:xfrm>
            <a:off x="1207008" y="3822192"/>
            <a:ext cx="658368" cy="182880"/>
          </a:xfrm>
          <a:prstGeom prst="rect">
            <a:avLst/>
          </a:prstGeom>
          <a:noFill/>
          <a:ln/>
        </p:spPr>
        <p:txBody>
          <a:bodyPr wrap="square" lIns="0" tIns="0" rIns="0" bIns="0" rtlCol="0" anchor="ctr"/>
          <a:lstStyle/>
          <a:p>
            <a:pPr algn="r" indent="0" marL="0">
              <a:buNone/>
            </a:pPr>
            <a:r>
              <a:rPr lang="en-US" sz="800" b="1" dirty="0">
                <a:solidFill>
                  <a:srgbClr val="0A7585"/>
                </a:solidFill>
                <a:latin typeface="Calibri" pitchFamily="34" charset="0"/>
                <a:ea typeface="Calibri" pitchFamily="34" charset="-122"/>
                <a:cs typeface="Calibri" pitchFamily="34" charset="-120"/>
              </a:rPr>
              <a:t>★ 4.9</a:t>
            </a:r>
            <a:endParaRPr lang="en-US" sz="800" dirty="0"/>
          </a:p>
        </p:txBody>
      </p:sp>
      <p:sp>
        <p:nvSpPr>
          <p:cNvPr id="34" name="Shape 32"/>
          <p:cNvSpPr/>
          <p:nvPr/>
        </p:nvSpPr>
        <p:spPr>
          <a:xfrm>
            <a:off x="493776" y="4069080"/>
            <a:ext cx="1371600" cy="201168"/>
          </a:xfrm>
          <a:prstGeom prst="roundRect">
            <a:avLst>
              <a:gd name="adj" fmla="val 18182"/>
            </a:avLst>
          </a:prstGeom>
          <a:solidFill>
            <a:srgbClr val="0A7585"/>
          </a:solidFill>
          <a:ln w="12700">
            <a:solidFill>
              <a:srgbClr val="0A7585"/>
            </a:solidFill>
            <a:prstDash val="solid"/>
          </a:ln>
        </p:spPr>
      </p:sp>
      <p:sp>
        <p:nvSpPr>
          <p:cNvPr id="35" name="Text 33"/>
          <p:cNvSpPr/>
          <p:nvPr/>
        </p:nvSpPr>
        <p:spPr>
          <a:xfrm>
            <a:off x="493776" y="4069080"/>
            <a:ext cx="137160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Book session</a:t>
            </a:r>
            <a:endParaRPr lang="en-US" sz="750" dirty="0"/>
          </a:p>
        </p:txBody>
      </p:sp>
      <p:sp>
        <p:nvSpPr>
          <p:cNvPr id="36" name="Shape 34"/>
          <p:cNvSpPr/>
          <p:nvPr/>
        </p:nvSpPr>
        <p:spPr>
          <a:xfrm>
            <a:off x="2139696" y="3310128"/>
            <a:ext cx="1600200"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37" name="Shape 35"/>
          <p:cNvSpPr/>
          <p:nvPr/>
        </p:nvSpPr>
        <p:spPr>
          <a:xfrm>
            <a:off x="2249424" y="3383280"/>
            <a:ext cx="420624" cy="420624"/>
          </a:xfrm>
          <a:prstGeom prst="ellipse">
            <a:avLst/>
          </a:prstGeom>
          <a:solidFill>
            <a:srgbClr val="0A7585"/>
          </a:solidFill>
          <a:ln w="12700">
            <a:solidFill>
              <a:srgbClr val="0A7585"/>
            </a:solidFill>
            <a:prstDash val="solid"/>
          </a:ln>
        </p:spPr>
      </p:sp>
      <p:sp>
        <p:nvSpPr>
          <p:cNvPr id="38" name="Text 36"/>
          <p:cNvSpPr/>
          <p:nvPr/>
        </p:nvSpPr>
        <p:spPr>
          <a:xfrm>
            <a:off x="2249424" y="338328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39" name="Text 37"/>
          <p:cNvSpPr/>
          <p:nvPr/>
        </p:nvSpPr>
        <p:spPr>
          <a:xfrm>
            <a:off x="2724912" y="3410712"/>
            <a:ext cx="932688" cy="182880"/>
          </a:xfrm>
          <a:prstGeom prst="rect">
            <a:avLst/>
          </a:prstGeom>
          <a:noFill/>
          <a:ln/>
        </p:spPr>
        <p:txBody>
          <a:bodyPr wrap="square" lIns="0" tIns="0" rIns="0" bIns="0" rtlCol="0" anchor="ctr"/>
          <a:lstStyle/>
          <a:p>
            <a:pPr indent="0" marL="0">
              <a:buNone/>
            </a:pPr>
            <a:r>
              <a:rPr lang="en-US" sz="800" b="1" dirty="0">
                <a:solidFill>
                  <a:srgbClr val="0B1F3A"/>
                </a:solidFill>
                <a:latin typeface="Calibri" pitchFamily="34" charset="0"/>
                <a:ea typeface="Calibri" pitchFamily="34" charset="-122"/>
                <a:cs typeface="Calibri" pitchFamily="34" charset="-120"/>
              </a:rPr>
              <a:t>Daniel K.</a:t>
            </a:r>
            <a:endParaRPr lang="en-US" sz="800" dirty="0"/>
          </a:p>
        </p:txBody>
      </p:sp>
      <p:sp>
        <p:nvSpPr>
          <p:cNvPr id="40" name="Text 38"/>
          <p:cNvSpPr/>
          <p:nvPr/>
        </p:nvSpPr>
        <p:spPr>
          <a:xfrm>
            <a:off x="2724912" y="3584448"/>
            <a:ext cx="932688" cy="164592"/>
          </a:xfrm>
          <a:prstGeom prst="rect">
            <a:avLst/>
          </a:prstGeom>
          <a:noFill/>
          <a:ln/>
        </p:spPr>
        <p:txBody>
          <a:bodyPr wrap="square" lIns="0" tIns="0" rIns="0" bIns="0" rtlCol="0" anchor="ctr"/>
          <a:lstStyle/>
          <a:p>
            <a:pPr indent="0" marL="0">
              <a:buNone/>
            </a:pPr>
            <a:r>
              <a:rPr lang="en-US" sz="750" dirty="0">
                <a:solidFill>
                  <a:srgbClr val="6B8099"/>
                </a:solidFill>
                <a:latin typeface="Calibri" pitchFamily="34" charset="0"/>
                <a:ea typeface="Calibri" pitchFamily="34" charset="-122"/>
                <a:cs typeface="Calibri" pitchFamily="34" charset="-120"/>
              </a:rPr>
              <a:t>English</a:t>
            </a:r>
            <a:endParaRPr lang="en-US" sz="750" dirty="0"/>
          </a:p>
        </p:txBody>
      </p:sp>
      <p:sp>
        <p:nvSpPr>
          <p:cNvPr id="41" name="Text 39"/>
          <p:cNvSpPr/>
          <p:nvPr/>
        </p:nvSpPr>
        <p:spPr>
          <a:xfrm>
            <a:off x="2249424" y="3822192"/>
            <a:ext cx="658368" cy="182880"/>
          </a:xfrm>
          <a:prstGeom prst="rect">
            <a:avLst/>
          </a:prstGeom>
          <a:noFill/>
          <a:ln/>
        </p:spPr>
        <p:txBody>
          <a:bodyPr wrap="square" lIns="0" tIns="0" rIns="0" bIns="0"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$28/hr</a:t>
            </a:r>
            <a:endParaRPr lang="en-US" sz="800" dirty="0"/>
          </a:p>
        </p:txBody>
      </p:sp>
      <p:sp>
        <p:nvSpPr>
          <p:cNvPr id="42" name="Text 40"/>
          <p:cNvSpPr/>
          <p:nvPr/>
        </p:nvSpPr>
        <p:spPr>
          <a:xfrm>
            <a:off x="2962656" y="3822192"/>
            <a:ext cx="658368" cy="182880"/>
          </a:xfrm>
          <a:prstGeom prst="rect">
            <a:avLst/>
          </a:prstGeom>
          <a:noFill/>
          <a:ln/>
        </p:spPr>
        <p:txBody>
          <a:bodyPr wrap="square" lIns="0" tIns="0" rIns="0" bIns="0" rtlCol="0" anchor="ctr"/>
          <a:lstStyle/>
          <a:p>
            <a:pPr algn="r" indent="0" marL="0">
              <a:buNone/>
            </a:pPr>
            <a:r>
              <a:rPr lang="en-US" sz="800" b="1" dirty="0">
                <a:solidFill>
                  <a:srgbClr val="0A7585"/>
                </a:solidFill>
                <a:latin typeface="Calibri" pitchFamily="34" charset="0"/>
                <a:ea typeface="Calibri" pitchFamily="34" charset="-122"/>
                <a:cs typeface="Calibri" pitchFamily="34" charset="-120"/>
              </a:rPr>
              <a:t>★ 5.0</a:t>
            </a:r>
            <a:endParaRPr lang="en-US" sz="800" dirty="0"/>
          </a:p>
        </p:txBody>
      </p:sp>
      <p:sp>
        <p:nvSpPr>
          <p:cNvPr id="43" name="Shape 41"/>
          <p:cNvSpPr/>
          <p:nvPr/>
        </p:nvSpPr>
        <p:spPr>
          <a:xfrm>
            <a:off x="2249424" y="4069080"/>
            <a:ext cx="1371600" cy="201168"/>
          </a:xfrm>
          <a:prstGeom prst="roundRect">
            <a:avLst>
              <a:gd name="adj" fmla="val 18182"/>
            </a:avLst>
          </a:prstGeom>
          <a:solidFill>
            <a:srgbClr val="0A7585"/>
          </a:solidFill>
          <a:ln w="12700">
            <a:solidFill>
              <a:srgbClr val="0A7585"/>
            </a:solidFill>
            <a:prstDash val="solid"/>
          </a:ln>
        </p:spPr>
      </p:sp>
      <p:sp>
        <p:nvSpPr>
          <p:cNvPr id="44" name="Text 42"/>
          <p:cNvSpPr/>
          <p:nvPr/>
        </p:nvSpPr>
        <p:spPr>
          <a:xfrm>
            <a:off x="2249424" y="4069080"/>
            <a:ext cx="137160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Book session</a:t>
            </a:r>
            <a:endParaRPr lang="en-US" sz="750" dirty="0"/>
          </a:p>
        </p:txBody>
      </p:sp>
      <p:sp>
        <p:nvSpPr>
          <p:cNvPr id="45" name="Shape 43"/>
          <p:cNvSpPr/>
          <p:nvPr/>
        </p:nvSpPr>
        <p:spPr>
          <a:xfrm>
            <a:off x="3895344" y="3310128"/>
            <a:ext cx="1600200"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46" name="Shape 44"/>
          <p:cNvSpPr/>
          <p:nvPr/>
        </p:nvSpPr>
        <p:spPr>
          <a:xfrm>
            <a:off x="4005072" y="3383280"/>
            <a:ext cx="420624" cy="420624"/>
          </a:xfrm>
          <a:prstGeom prst="ellipse">
            <a:avLst/>
          </a:prstGeom>
          <a:solidFill>
            <a:srgbClr val="0A7585"/>
          </a:solidFill>
          <a:ln w="12700">
            <a:solidFill>
              <a:srgbClr val="0A7585"/>
            </a:solidFill>
            <a:prstDash val="solid"/>
          </a:ln>
        </p:spPr>
      </p:sp>
      <p:sp>
        <p:nvSpPr>
          <p:cNvPr id="47" name="Text 45"/>
          <p:cNvSpPr/>
          <p:nvPr/>
        </p:nvSpPr>
        <p:spPr>
          <a:xfrm>
            <a:off x="4005072" y="338328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t>
            </a:r>
            <a:endParaRPr lang="en-US" sz="1100" dirty="0"/>
          </a:p>
        </p:txBody>
      </p:sp>
      <p:sp>
        <p:nvSpPr>
          <p:cNvPr id="48" name="Text 46"/>
          <p:cNvSpPr/>
          <p:nvPr/>
        </p:nvSpPr>
        <p:spPr>
          <a:xfrm>
            <a:off x="4480560" y="3410712"/>
            <a:ext cx="932688" cy="182880"/>
          </a:xfrm>
          <a:prstGeom prst="rect">
            <a:avLst/>
          </a:prstGeom>
          <a:noFill/>
          <a:ln/>
        </p:spPr>
        <p:txBody>
          <a:bodyPr wrap="square" lIns="0" tIns="0" rIns="0" bIns="0" rtlCol="0" anchor="ctr"/>
          <a:lstStyle/>
          <a:p>
            <a:pPr indent="0" marL="0">
              <a:buNone/>
            </a:pPr>
            <a:r>
              <a:rPr lang="en-US" sz="800" b="1" dirty="0">
                <a:solidFill>
                  <a:srgbClr val="0B1F3A"/>
                </a:solidFill>
                <a:latin typeface="Calibri" pitchFamily="34" charset="0"/>
                <a:ea typeface="Calibri" pitchFamily="34" charset="-122"/>
                <a:cs typeface="Calibri" pitchFamily="34" charset="-120"/>
              </a:rPr>
              <a:t>Sofia M.</a:t>
            </a:r>
            <a:endParaRPr lang="en-US" sz="800" dirty="0"/>
          </a:p>
        </p:txBody>
      </p:sp>
      <p:sp>
        <p:nvSpPr>
          <p:cNvPr id="49" name="Text 47"/>
          <p:cNvSpPr/>
          <p:nvPr/>
        </p:nvSpPr>
        <p:spPr>
          <a:xfrm>
            <a:off x="4480560" y="3584448"/>
            <a:ext cx="932688" cy="164592"/>
          </a:xfrm>
          <a:prstGeom prst="rect">
            <a:avLst/>
          </a:prstGeom>
          <a:noFill/>
          <a:ln/>
        </p:spPr>
        <p:txBody>
          <a:bodyPr wrap="square" lIns="0" tIns="0" rIns="0" bIns="0" rtlCol="0" anchor="ctr"/>
          <a:lstStyle/>
          <a:p>
            <a:pPr indent="0" marL="0">
              <a:buNone/>
            </a:pPr>
            <a:r>
              <a:rPr lang="en-US" sz="750" dirty="0">
                <a:solidFill>
                  <a:srgbClr val="6B8099"/>
                </a:solidFill>
                <a:latin typeface="Calibri" pitchFamily="34" charset="0"/>
                <a:ea typeface="Calibri" pitchFamily="34" charset="-122"/>
                <a:cs typeface="Calibri" pitchFamily="34" charset="-120"/>
              </a:rPr>
              <a:t>Physics</a:t>
            </a:r>
            <a:endParaRPr lang="en-US" sz="750" dirty="0"/>
          </a:p>
        </p:txBody>
      </p:sp>
      <p:sp>
        <p:nvSpPr>
          <p:cNvPr id="50" name="Text 48"/>
          <p:cNvSpPr/>
          <p:nvPr/>
        </p:nvSpPr>
        <p:spPr>
          <a:xfrm>
            <a:off x="4005072" y="3822192"/>
            <a:ext cx="658368" cy="182880"/>
          </a:xfrm>
          <a:prstGeom prst="rect">
            <a:avLst/>
          </a:prstGeom>
          <a:noFill/>
          <a:ln/>
        </p:spPr>
        <p:txBody>
          <a:bodyPr wrap="square" lIns="0" tIns="0" rIns="0" bIns="0"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$35/hr</a:t>
            </a:r>
            <a:endParaRPr lang="en-US" sz="800" dirty="0"/>
          </a:p>
        </p:txBody>
      </p:sp>
      <p:sp>
        <p:nvSpPr>
          <p:cNvPr id="51" name="Text 49"/>
          <p:cNvSpPr/>
          <p:nvPr/>
        </p:nvSpPr>
        <p:spPr>
          <a:xfrm>
            <a:off x="4718304" y="3822192"/>
            <a:ext cx="658368" cy="182880"/>
          </a:xfrm>
          <a:prstGeom prst="rect">
            <a:avLst/>
          </a:prstGeom>
          <a:noFill/>
          <a:ln/>
        </p:spPr>
        <p:txBody>
          <a:bodyPr wrap="square" lIns="0" tIns="0" rIns="0" bIns="0" rtlCol="0" anchor="ctr"/>
          <a:lstStyle/>
          <a:p>
            <a:pPr algn="r" indent="0" marL="0">
              <a:buNone/>
            </a:pPr>
            <a:r>
              <a:rPr lang="en-US" sz="800" b="1" dirty="0">
                <a:solidFill>
                  <a:srgbClr val="0A7585"/>
                </a:solidFill>
                <a:latin typeface="Calibri" pitchFamily="34" charset="0"/>
                <a:ea typeface="Calibri" pitchFamily="34" charset="-122"/>
                <a:cs typeface="Calibri" pitchFamily="34" charset="-120"/>
              </a:rPr>
              <a:t>★ 4.8</a:t>
            </a:r>
            <a:endParaRPr lang="en-US" sz="800" dirty="0"/>
          </a:p>
        </p:txBody>
      </p:sp>
      <p:sp>
        <p:nvSpPr>
          <p:cNvPr id="52" name="Shape 50"/>
          <p:cNvSpPr/>
          <p:nvPr/>
        </p:nvSpPr>
        <p:spPr>
          <a:xfrm>
            <a:off x="4005072" y="4069080"/>
            <a:ext cx="1371600" cy="201168"/>
          </a:xfrm>
          <a:prstGeom prst="roundRect">
            <a:avLst>
              <a:gd name="adj" fmla="val 18182"/>
            </a:avLst>
          </a:prstGeom>
          <a:solidFill>
            <a:srgbClr val="0A7585"/>
          </a:solidFill>
          <a:ln w="12700">
            <a:solidFill>
              <a:srgbClr val="0A7585"/>
            </a:solidFill>
            <a:prstDash val="solid"/>
          </a:ln>
        </p:spPr>
      </p:sp>
      <p:sp>
        <p:nvSpPr>
          <p:cNvPr id="53" name="Text 51"/>
          <p:cNvSpPr/>
          <p:nvPr/>
        </p:nvSpPr>
        <p:spPr>
          <a:xfrm>
            <a:off x="4005072" y="4069080"/>
            <a:ext cx="137160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Book session</a:t>
            </a:r>
            <a:endParaRPr lang="en-US" sz="750" dirty="0"/>
          </a:p>
        </p:txBody>
      </p:sp>
      <p:sp>
        <p:nvSpPr>
          <p:cNvPr id="54" name="Shape 52"/>
          <p:cNvSpPr/>
          <p:nvPr/>
        </p:nvSpPr>
        <p:spPr>
          <a:xfrm>
            <a:off x="5760720" y="1600200"/>
            <a:ext cx="2926080" cy="3246120"/>
          </a:xfrm>
          <a:prstGeom prst="roundRect">
            <a:avLst>
              <a:gd name="adj" fmla="val 2500"/>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55" name="Text 53"/>
          <p:cNvSpPr/>
          <p:nvPr/>
        </p:nvSpPr>
        <p:spPr>
          <a:xfrm>
            <a:off x="5897880" y="1691640"/>
            <a:ext cx="2651760" cy="274320"/>
          </a:xfrm>
          <a:prstGeom prst="rect">
            <a:avLst/>
          </a:prstGeom>
          <a:noFill/>
          <a:ln/>
        </p:spPr>
        <p:txBody>
          <a:bodyPr wrap="square" lIns="0" tIns="0" rIns="0" bIns="0" rtlCol="0" anchor="ctr"/>
          <a:lstStyle/>
          <a:p>
            <a:pPr indent="0" marL="0">
              <a:buNone/>
            </a:pPr>
            <a:r>
              <a:rPr lang="en-US" sz="1100" b="1" dirty="0">
                <a:solidFill>
                  <a:srgbClr val="0A7585"/>
                </a:solidFill>
                <a:latin typeface="Calibri" pitchFamily="34" charset="0"/>
                <a:ea typeface="Calibri" pitchFamily="34" charset="-122"/>
                <a:cs typeface="Calibri" pitchFamily="34" charset="-120"/>
              </a:rPr>
              <a:t>Features</a:t>
            </a:r>
            <a:endParaRPr lang="en-US" sz="1100" dirty="0"/>
          </a:p>
        </p:txBody>
      </p:sp>
      <p:sp>
        <p:nvSpPr>
          <p:cNvPr id="56" name="Text 54"/>
          <p:cNvSpPr/>
          <p:nvPr/>
        </p:nvSpPr>
        <p:spPr>
          <a:xfrm>
            <a:off x="5870448" y="2029968"/>
            <a:ext cx="228600" cy="256032"/>
          </a:xfrm>
          <a:prstGeom prst="rect">
            <a:avLst/>
          </a:prstGeom>
          <a:noFill/>
          <a:ln/>
        </p:spPr>
        <p:txBody>
          <a:bodyPr wrap="square" lIns="0" tIns="0" rIns="0" bIns="0" rtlCol="0" anchor="ctr"/>
          <a:lstStyle/>
          <a:p>
            <a:pPr indent="0" marL="0">
              <a:buNone/>
            </a:pPr>
            <a:r>
              <a:rPr lang="en-US" sz="1000" b="1" dirty="0">
                <a:solidFill>
                  <a:srgbClr val="1A8A5A"/>
                </a:solidFill>
                <a:latin typeface="Calibri" pitchFamily="34" charset="0"/>
                <a:ea typeface="Calibri" pitchFamily="34" charset="-122"/>
                <a:cs typeface="Calibri" pitchFamily="34" charset="-120"/>
              </a:rPr>
              <a:t>✓</a:t>
            </a:r>
            <a:endParaRPr lang="en-US" sz="1000" dirty="0"/>
          </a:p>
        </p:txBody>
      </p:sp>
      <p:sp>
        <p:nvSpPr>
          <p:cNvPr id="57" name="Text 55"/>
          <p:cNvSpPr/>
          <p:nvPr/>
        </p:nvSpPr>
        <p:spPr>
          <a:xfrm>
            <a:off x="6099048" y="2029968"/>
            <a:ext cx="2514600" cy="25603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Tutor discovery by subject &amp; exam syllabus</a:t>
            </a:r>
            <a:endParaRPr lang="en-US" sz="1100" dirty="0"/>
          </a:p>
        </p:txBody>
      </p:sp>
      <p:sp>
        <p:nvSpPr>
          <p:cNvPr id="58" name="Text 56"/>
          <p:cNvSpPr/>
          <p:nvPr/>
        </p:nvSpPr>
        <p:spPr>
          <a:xfrm>
            <a:off x="5870448" y="2487168"/>
            <a:ext cx="228600" cy="256032"/>
          </a:xfrm>
          <a:prstGeom prst="rect">
            <a:avLst/>
          </a:prstGeom>
          <a:noFill/>
          <a:ln/>
        </p:spPr>
        <p:txBody>
          <a:bodyPr wrap="square" lIns="0" tIns="0" rIns="0" bIns="0" rtlCol="0" anchor="ctr"/>
          <a:lstStyle/>
          <a:p>
            <a:pPr indent="0" marL="0">
              <a:buNone/>
            </a:pPr>
            <a:r>
              <a:rPr lang="en-US" sz="1000" b="1" dirty="0">
                <a:solidFill>
                  <a:srgbClr val="1A8A5A"/>
                </a:solidFill>
                <a:latin typeface="Calibri" pitchFamily="34" charset="0"/>
                <a:ea typeface="Calibri" pitchFamily="34" charset="-122"/>
                <a:cs typeface="Calibri" pitchFamily="34" charset="-120"/>
              </a:rPr>
              <a:t>✓</a:t>
            </a:r>
            <a:endParaRPr lang="en-US" sz="1000" dirty="0"/>
          </a:p>
        </p:txBody>
      </p:sp>
      <p:sp>
        <p:nvSpPr>
          <p:cNvPr id="59" name="Text 57"/>
          <p:cNvSpPr/>
          <p:nvPr/>
        </p:nvSpPr>
        <p:spPr>
          <a:xfrm>
            <a:off x="6099048" y="2487168"/>
            <a:ext cx="2514600" cy="25603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One-click booking &amp; calendar</a:t>
            </a:r>
            <a:endParaRPr lang="en-US" sz="1100" dirty="0"/>
          </a:p>
        </p:txBody>
      </p:sp>
      <p:sp>
        <p:nvSpPr>
          <p:cNvPr id="60" name="Text 58"/>
          <p:cNvSpPr/>
          <p:nvPr/>
        </p:nvSpPr>
        <p:spPr>
          <a:xfrm>
            <a:off x="5870448" y="2944368"/>
            <a:ext cx="228600" cy="256032"/>
          </a:xfrm>
          <a:prstGeom prst="rect">
            <a:avLst/>
          </a:prstGeom>
          <a:noFill/>
          <a:ln/>
        </p:spPr>
        <p:txBody>
          <a:bodyPr wrap="square" lIns="0" tIns="0" rIns="0" bIns="0" rtlCol="0" anchor="ctr"/>
          <a:lstStyle/>
          <a:p>
            <a:pPr indent="0" marL="0">
              <a:buNone/>
            </a:pPr>
            <a:r>
              <a:rPr lang="en-US" sz="1000" b="1" dirty="0">
                <a:solidFill>
                  <a:srgbClr val="1A8A5A"/>
                </a:solidFill>
                <a:latin typeface="Calibri" pitchFamily="34" charset="0"/>
                <a:ea typeface="Calibri" pitchFamily="34" charset="-122"/>
                <a:cs typeface="Calibri" pitchFamily="34" charset="-120"/>
              </a:rPr>
              <a:t>✓</a:t>
            </a:r>
            <a:endParaRPr lang="en-US" sz="1000" dirty="0"/>
          </a:p>
        </p:txBody>
      </p:sp>
      <p:sp>
        <p:nvSpPr>
          <p:cNvPr id="61" name="Text 59"/>
          <p:cNvSpPr/>
          <p:nvPr/>
        </p:nvSpPr>
        <p:spPr>
          <a:xfrm>
            <a:off x="6099048" y="2944368"/>
            <a:ext cx="2514600" cy="25603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HD video + collaborative whiteboard</a:t>
            </a:r>
            <a:endParaRPr lang="en-US" sz="1100" dirty="0"/>
          </a:p>
        </p:txBody>
      </p:sp>
      <p:sp>
        <p:nvSpPr>
          <p:cNvPr id="62" name="Text 60"/>
          <p:cNvSpPr/>
          <p:nvPr/>
        </p:nvSpPr>
        <p:spPr>
          <a:xfrm>
            <a:off x="5870448" y="3401568"/>
            <a:ext cx="228600" cy="256032"/>
          </a:xfrm>
          <a:prstGeom prst="rect">
            <a:avLst/>
          </a:prstGeom>
          <a:noFill/>
          <a:ln/>
        </p:spPr>
        <p:txBody>
          <a:bodyPr wrap="square" lIns="0" tIns="0" rIns="0" bIns="0" rtlCol="0" anchor="ctr"/>
          <a:lstStyle/>
          <a:p>
            <a:pPr indent="0" marL="0">
              <a:buNone/>
            </a:pPr>
            <a:r>
              <a:rPr lang="en-US" sz="1000" b="1" dirty="0">
                <a:solidFill>
                  <a:srgbClr val="1A8A5A"/>
                </a:solidFill>
                <a:latin typeface="Calibri" pitchFamily="34" charset="0"/>
                <a:ea typeface="Calibri" pitchFamily="34" charset="-122"/>
                <a:cs typeface="Calibri" pitchFamily="34" charset="-120"/>
              </a:rPr>
              <a:t>✓</a:t>
            </a:r>
            <a:endParaRPr lang="en-US" sz="1000" dirty="0"/>
          </a:p>
        </p:txBody>
      </p:sp>
      <p:sp>
        <p:nvSpPr>
          <p:cNvPr id="63" name="Text 61"/>
          <p:cNvSpPr/>
          <p:nvPr/>
        </p:nvSpPr>
        <p:spPr>
          <a:xfrm>
            <a:off x="6099048" y="3401568"/>
            <a:ext cx="2514600" cy="25603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AI homework grading (Anthropic Claude)</a:t>
            </a:r>
            <a:endParaRPr lang="en-US" sz="1100" dirty="0"/>
          </a:p>
        </p:txBody>
      </p:sp>
      <p:sp>
        <p:nvSpPr>
          <p:cNvPr id="64" name="Text 62"/>
          <p:cNvSpPr/>
          <p:nvPr/>
        </p:nvSpPr>
        <p:spPr>
          <a:xfrm>
            <a:off x="5870448" y="3858768"/>
            <a:ext cx="228600" cy="256032"/>
          </a:xfrm>
          <a:prstGeom prst="rect">
            <a:avLst/>
          </a:prstGeom>
          <a:noFill/>
          <a:ln/>
        </p:spPr>
        <p:txBody>
          <a:bodyPr wrap="square" lIns="0" tIns="0" rIns="0" bIns="0" rtlCol="0" anchor="ctr"/>
          <a:lstStyle/>
          <a:p>
            <a:pPr indent="0" marL="0">
              <a:buNone/>
            </a:pPr>
            <a:r>
              <a:rPr lang="en-US" sz="1000" b="1" dirty="0">
                <a:solidFill>
                  <a:srgbClr val="1A8A5A"/>
                </a:solidFill>
                <a:latin typeface="Calibri" pitchFamily="34" charset="0"/>
                <a:ea typeface="Calibri" pitchFamily="34" charset="-122"/>
                <a:cs typeface="Calibri" pitchFamily="34" charset="-120"/>
              </a:rPr>
              <a:t>✓</a:t>
            </a:r>
            <a:endParaRPr lang="en-US" sz="1000" dirty="0"/>
          </a:p>
        </p:txBody>
      </p:sp>
      <p:sp>
        <p:nvSpPr>
          <p:cNvPr id="65" name="Text 63"/>
          <p:cNvSpPr/>
          <p:nvPr/>
        </p:nvSpPr>
        <p:spPr>
          <a:xfrm>
            <a:off x="6099048" y="3858768"/>
            <a:ext cx="2514600" cy="25603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Multilingual: Georgian / English</a:t>
            </a:r>
            <a:endParaRPr lang="en-US" sz="1100" dirty="0"/>
          </a:p>
        </p:txBody>
      </p:sp>
      <p:sp>
        <p:nvSpPr>
          <p:cNvPr id="66" name="Text 64"/>
          <p:cNvSpPr/>
          <p:nvPr/>
        </p:nvSpPr>
        <p:spPr>
          <a:xfrm>
            <a:off x="5870448" y="4315968"/>
            <a:ext cx="228600" cy="256032"/>
          </a:xfrm>
          <a:prstGeom prst="rect">
            <a:avLst/>
          </a:prstGeom>
          <a:noFill/>
          <a:ln/>
        </p:spPr>
        <p:txBody>
          <a:bodyPr wrap="square" lIns="0" tIns="0" rIns="0" bIns="0" rtlCol="0" anchor="ctr"/>
          <a:lstStyle/>
          <a:p>
            <a:pPr indent="0" marL="0">
              <a:buNone/>
            </a:pPr>
            <a:r>
              <a:rPr lang="en-US" sz="1000" b="1" dirty="0">
                <a:solidFill>
                  <a:srgbClr val="1A8A5A"/>
                </a:solidFill>
                <a:latin typeface="Calibri" pitchFamily="34" charset="0"/>
                <a:ea typeface="Calibri" pitchFamily="34" charset="-122"/>
                <a:cs typeface="Calibri" pitchFamily="34" charset="-120"/>
              </a:rPr>
              <a:t>✓</a:t>
            </a:r>
            <a:endParaRPr lang="en-US" sz="1000" dirty="0"/>
          </a:p>
        </p:txBody>
      </p:sp>
      <p:sp>
        <p:nvSpPr>
          <p:cNvPr id="67" name="Text 65"/>
          <p:cNvSpPr/>
          <p:nvPr/>
        </p:nvSpPr>
        <p:spPr>
          <a:xfrm>
            <a:off x="6099048" y="4315968"/>
            <a:ext cx="2514600" cy="25603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Real-time student-tutor messaging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20040" y="91440"/>
            <a:ext cx="228600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06 · TRACTION</a:t>
            </a:r>
            <a:endParaRPr lang="en-US" sz="800" dirty="0"/>
          </a:p>
        </p:txBody>
      </p:sp>
      <p:sp>
        <p:nvSpPr>
          <p:cNvPr id="4" name="Text 2"/>
          <p:cNvSpPr/>
          <p:nvPr/>
        </p:nvSpPr>
        <p:spPr>
          <a:xfrm>
            <a:off x="320040" y="292608"/>
            <a:ext cx="850392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Real numbers only. No projections.</a:t>
            </a:r>
            <a:endParaRPr lang="en-US" sz="3000" dirty="0"/>
          </a:p>
        </p:txBody>
      </p:sp>
      <p:sp>
        <p:nvSpPr>
          <p:cNvPr id="5" name="Text 3"/>
          <p:cNvSpPr/>
          <p:nvPr/>
        </p:nvSpPr>
        <p:spPr>
          <a:xfrm>
            <a:off x="6858000" y="91440"/>
            <a:ext cx="2011680" cy="256032"/>
          </a:xfrm>
          <a:prstGeom prst="rect">
            <a:avLst/>
          </a:prstGeom>
          <a:noFill/>
          <a:ln/>
        </p:spPr>
        <p:txBody>
          <a:bodyPr wrap="square" lIns="0" tIns="0" rIns="0" bIns="0"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6" name="Shape 4"/>
          <p:cNvSpPr/>
          <p:nvPr/>
        </p:nvSpPr>
        <p:spPr>
          <a:xfrm>
            <a:off x="320040" y="1005840"/>
            <a:ext cx="274320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320040" y="1005840"/>
            <a:ext cx="2743200" cy="164592"/>
          </a:xfrm>
          <a:prstGeom prst="roundRect">
            <a:avLst>
              <a:gd name="adj" fmla="val 33333"/>
            </a:avLst>
          </a:prstGeom>
          <a:solidFill>
            <a:srgbClr val="0A7585"/>
          </a:solidFill>
          <a:ln w="12700">
            <a:solidFill>
              <a:srgbClr val="0A7585"/>
            </a:solidFill>
            <a:prstDash val="solid"/>
          </a:ln>
        </p:spPr>
      </p:sp>
      <p:sp>
        <p:nvSpPr>
          <p:cNvPr id="8" name="Text 6"/>
          <p:cNvSpPr/>
          <p:nvPr/>
        </p:nvSpPr>
        <p:spPr>
          <a:xfrm>
            <a:off x="320040" y="1188720"/>
            <a:ext cx="2743200" cy="685800"/>
          </a:xfrm>
          <a:prstGeom prst="rect">
            <a:avLst/>
          </a:prstGeom>
          <a:noFill/>
          <a:ln/>
        </p:spPr>
        <p:txBody>
          <a:bodyPr wrap="square" lIns="0" tIns="0" rIns="0" bIns="0" rtlCol="0" anchor="ctr"/>
          <a:lstStyle/>
          <a:p>
            <a:pPr algn="ctr" indent="0" marL="0">
              <a:buNone/>
            </a:pPr>
            <a:r>
              <a:rPr lang="en-US" sz="3400" b="1" dirty="0">
                <a:solidFill>
                  <a:srgbClr val="0B1F3A"/>
                </a:solidFill>
                <a:latin typeface="Calibri" pitchFamily="34" charset="0"/>
                <a:ea typeface="Calibri" pitchFamily="34" charset="-122"/>
                <a:cs typeface="Calibri" pitchFamily="34" charset="-120"/>
              </a:rPr>
              <a:t>10</a:t>
            </a:r>
            <a:endParaRPr lang="en-US" sz="3400" dirty="0"/>
          </a:p>
        </p:txBody>
      </p:sp>
      <p:sp>
        <p:nvSpPr>
          <p:cNvPr id="9" name="Text 7"/>
          <p:cNvSpPr/>
          <p:nvPr/>
        </p:nvSpPr>
        <p:spPr>
          <a:xfrm>
            <a:off x="320040" y="1847088"/>
            <a:ext cx="2743200" cy="320040"/>
          </a:xfrm>
          <a:prstGeom prst="rect">
            <a:avLst/>
          </a:prstGeom>
          <a:noFill/>
          <a:ln/>
        </p:spPr>
        <p:txBody>
          <a:bodyPr wrap="square" lIns="0" tIns="0" rIns="0" bIns="0" rtlCol="0" anchor="ctr"/>
          <a:lstStyle/>
          <a:p>
            <a:pPr algn="ctr" indent="0" marL="0">
              <a:buNone/>
            </a:pPr>
            <a:r>
              <a:rPr lang="en-US" sz="900" b="1" dirty="0">
                <a:solidFill>
                  <a:srgbClr val="0A7585"/>
                </a:solidFill>
                <a:latin typeface="Calibri" pitchFamily="34" charset="0"/>
                <a:ea typeface="Calibri" pitchFamily="34" charset="-122"/>
                <a:cs typeface="Calibri" pitchFamily="34" charset="-120"/>
              </a:rPr>
              <a:t>Waitlist signups</a:t>
            </a:r>
            <a:endParaRPr lang="en-US" sz="900" dirty="0"/>
          </a:p>
        </p:txBody>
      </p:sp>
      <p:sp>
        <p:nvSpPr>
          <p:cNvPr id="10" name="Text 8"/>
          <p:cNvSpPr/>
          <p:nvPr/>
        </p:nvSpPr>
        <p:spPr>
          <a:xfrm>
            <a:off x="320040" y="2139696"/>
            <a:ext cx="2743200" cy="274320"/>
          </a:xfrm>
          <a:prstGeom prst="rect">
            <a:avLst/>
          </a:prstGeom>
          <a:noFill/>
          <a:ln/>
        </p:spPr>
        <p:txBody>
          <a:bodyPr wrap="square" lIns="0" tIns="0" rIns="0" bIns="0" rtlCol="0" anchor="ctr"/>
          <a:lstStyle/>
          <a:p>
            <a:pPr algn="ctr" indent="0" marL="0">
              <a:buNone/>
            </a:pPr>
            <a:r>
              <a:rPr lang="en-US" sz="800" dirty="0">
                <a:solidFill>
                  <a:srgbClr val="6B8099"/>
                </a:solidFill>
                <a:latin typeface="Calibri" pitchFamily="34" charset="0"/>
                <a:ea typeface="Calibri" pitchFamily="34" charset="-122"/>
                <a:cs typeface="Calibri" pitchFamily="34" charset="-120"/>
              </a:rPr>
              <a:t>5 students + 5 tutors</a:t>
            </a:r>
            <a:endParaRPr lang="en-US" sz="800" dirty="0"/>
          </a:p>
          <a:p>
            <a:pPr algn="ctr" indent="0" marL="0">
              <a:buNone/>
            </a:pPr>
            <a:r>
              <a:rPr lang="en-US" sz="800" dirty="0">
                <a:solidFill>
                  <a:srgbClr val="6B8099"/>
                </a:solidFill>
                <a:latin typeface="Calibri" pitchFamily="34" charset="0"/>
                <a:ea typeface="Calibri" pitchFamily="34" charset="-122"/>
                <a:cs typeface="Calibri" pitchFamily="34" charset="-120"/>
              </a:rPr>
              <a:t>collected in one evening</a:t>
            </a:r>
            <a:endParaRPr lang="en-US" sz="800" dirty="0"/>
          </a:p>
        </p:txBody>
      </p:sp>
      <p:sp>
        <p:nvSpPr>
          <p:cNvPr id="11" name="Shape 9"/>
          <p:cNvSpPr/>
          <p:nvPr/>
        </p:nvSpPr>
        <p:spPr>
          <a:xfrm>
            <a:off x="3200400" y="1005840"/>
            <a:ext cx="274320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3200400" y="1005840"/>
            <a:ext cx="2743200" cy="164592"/>
          </a:xfrm>
          <a:prstGeom prst="roundRect">
            <a:avLst>
              <a:gd name="adj" fmla="val 33333"/>
            </a:avLst>
          </a:prstGeom>
          <a:solidFill>
            <a:srgbClr val="0A7585"/>
          </a:solidFill>
          <a:ln w="12700">
            <a:solidFill>
              <a:srgbClr val="0A7585"/>
            </a:solidFill>
            <a:prstDash val="solid"/>
          </a:ln>
        </p:spPr>
      </p:sp>
      <p:sp>
        <p:nvSpPr>
          <p:cNvPr id="13" name="Text 11"/>
          <p:cNvSpPr/>
          <p:nvPr/>
        </p:nvSpPr>
        <p:spPr>
          <a:xfrm>
            <a:off x="3200400" y="1188720"/>
            <a:ext cx="2743200" cy="685800"/>
          </a:xfrm>
          <a:prstGeom prst="rect">
            <a:avLst/>
          </a:prstGeom>
          <a:noFill/>
          <a:ln/>
        </p:spPr>
        <p:txBody>
          <a:bodyPr wrap="square" lIns="0" tIns="0" rIns="0" bIns="0" rtlCol="0" anchor="ctr"/>
          <a:lstStyle/>
          <a:p>
            <a:pPr algn="ctr" indent="0" marL="0">
              <a:buNone/>
            </a:pPr>
            <a:r>
              <a:rPr lang="en-US" sz="3400" b="1" dirty="0">
                <a:solidFill>
                  <a:srgbClr val="0B1F3A"/>
                </a:solidFill>
                <a:latin typeface="Calibri" pitchFamily="34" charset="0"/>
                <a:ea typeface="Calibri" pitchFamily="34" charset="-122"/>
                <a:cs typeface="Calibri" pitchFamily="34" charset="-120"/>
              </a:rPr>
              <a:t>5</a:t>
            </a:r>
            <a:endParaRPr lang="en-US" sz="3400" dirty="0"/>
          </a:p>
        </p:txBody>
      </p:sp>
      <p:sp>
        <p:nvSpPr>
          <p:cNvPr id="14" name="Text 12"/>
          <p:cNvSpPr/>
          <p:nvPr/>
        </p:nvSpPr>
        <p:spPr>
          <a:xfrm>
            <a:off x="3200400" y="1847088"/>
            <a:ext cx="2743200" cy="320040"/>
          </a:xfrm>
          <a:prstGeom prst="rect">
            <a:avLst/>
          </a:prstGeom>
          <a:noFill/>
          <a:ln/>
        </p:spPr>
        <p:txBody>
          <a:bodyPr wrap="square" lIns="0" tIns="0" rIns="0" bIns="0" rtlCol="0" anchor="ctr"/>
          <a:lstStyle/>
          <a:p>
            <a:pPr algn="ctr" indent="0" marL="0">
              <a:buNone/>
            </a:pPr>
            <a:r>
              <a:rPr lang="en-US" sz="900" b="1" dirty="0">
                <a:solidFill>
                  <a:srgbClr val="0A7585"/>
                </a:solidFill>
                <a:latin typeface="Calibri" pitchFamily="34" charset="0"/>
                <a:ea typeface="Calibri" pitchFamily="34" charset="-122"/>
                <a:cs typeface="Calibri" pitchFamily="34" charset="-120"/>
              </a:rPr>
              <a:t>Usability test users</a:t>
            </a:r>
            <a:endParaRPr lang="en-US" sz="900" dirty="0"/>
          </a:p>
        </p:txBody>
      </p:sp>
      <p:sp>
        <p:nvSpPr>
          <p:cNvPr id="15" name="Text 13"/>
          <p:cNvSpPr/>
          <p:nvPr/>
        </p:nvSpPr>
        <p:spPr>
          <a:xfrm>
            <a:off x="3200400" y="2139696"/>
            <a:ext cx="2743200" cy="274320"/>
          </a:xfrm>
          <a:prstGeom prst="rect">
            <a:avLst/>
          </a:prstGeom>
          <a:noFill/>
          <a:ln/>
        </p:spPr>
        <p:txBody>
          <a:bodyPr wrap="square" lIns="0" tIns="0" rIns="0" bIns="0" rtlCol="0" anchor="ctr"/>
          <a:lstStyle/>
          <a:p>
            <a:pPr algn="ctr" indent="0" marL="0">
              <a:buNone/>
            </a:pPr>
            <a:r>
              <a:rPr lang="en-US" sz="800" dirty="0">
                <a:solidFill>
                  <a:srgbClr val="6B8099"/>
                </a:solidFill>
                <a:latin typeface="Calibri" pitchFamily="34" charset="0"/>
                <a:ea typeface="Calibri" pitchFamily="34" charset="-122"/>
                <a:cs typeface="Calibri" pitchFamily="34" charset="-120"/>
              </a:rPr>
              <a:t>All preferred TutorLink</a:t>
            </a:r>
            <a:endParaRPr lang="en-US" sz="800" dirty="0"/>
          </a:p>
          <a:p>
            <a:pPr algn="ctr" indent="0" marL="0">
              <a:buNone/>
            </a:pPr>
            <a:r>
              <a:rPr lang="en-US" sz="800" dirty="0">
                <a:solidFill>
                  <a:srgbClr val="6B8099"/>
                </a:solidFill>
                <a:latin typeface="Calibri" pitchFamily="34" charset="0"/>
                <a:ea typeface="Calibri" pitchFamily="34" charset="-122"/>
                <a:cs typeface="Calibri" pitchFamily="34" charset="-120"/>
              </a:rPr>
              <a:t>over WhatsApp search</a:t>
            </a:r>
            <a:endParaRPr lang="en-US" sz="800" dirty="0"/>
          </a:p>
        </p:txBody>
      </p:sp>
      <p:sp>
        <p:nvSpPr>
          <p:cNvPr id="16" name="Shape 14"/>
          <p:cNvSpPr/>
          <p:nvPr/>
        </p:nvSpPr>
        <p:spPr>
          <a:xfrm>
            <a:off x="6080760" y="1005840"/>
            <a:ext cx="274320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6080760" y="1005840"/>
            <a:ext cx="2743200" cy="164592"/>
          </a:xfrm>
          <a:prstGeom prst="roundRect">
            <a:avLst>
              <a:gd name="adj" fmla="val 33333"/>
            </a:avLst>
          </a:prstGeom>
          <a:solidFill>
            <a:srgbClr val="0A7585"/>
          </a:solidFill>
          <a:ln w="12700">
            <a:solidFill>
              <a:srgbClr val="0A7585"/>
            </a:solidFill>
            <a:prstDash val="solid"/>
          </a:ln>
        </p:spPr>
      </p:sp>
      <p:sp>
        <p:nvSpPr>
          <p:cNvPr id="18" name="Text 16"/>
          <p:cNvSpPr/>
          <p:nvPr/>
        </p:nvSpPr>
        <p:spPr>
          <a:xfrm>
            <a:off x="6080760" y="1188720"/>
            <a:ext cx="2743200" cy="685800"/>
          </a:xfrm>
          <a:prstGeom prst="rect">
            <a:avLst/>
          </a:prstGeom>
          <a:noFill/>
          <a:ln/>
        </p:spPr>
        <p:txBody>
          <a:bodyPr wrap="square" lIns="0" tIns="0" rIns="0" bIns="0" rtlCol="0" anchor="ctr"/>
          <a:lstStyle/>
          <a:p>
            <a:pPr algn="ctr" indent="0" marL="0">
              <a:buNone/>
            </a:pPr>
            <a:r>
              <a:rPr lang="en-US" sz="3400" b="1" dirty="0">
                <a:solidFill>
                  <a:srgbClr val="0B1F3A"/>
                </a:solidFill>
                <a:latin typeface="Calibri" pitchFamily="34" charset="0"/>
                <a:ea typeface="Calibri" pitchFamily="34" charset="-122"/>
                <a:cs typeface="Calibri" pitchFamily="34" charset="-120"/>
              </a:rPr>
              <a:t>12</a:t>
            </a:r>
            <a:endParaRPr lang="en-US" sz="3400" dirty="0"/>
          </a:p>
        </p:txBody>
      </p:sp>
      <p:sp>
        <p:nvSpPr>
          <p:cNvPr id="19" name="Text 17"/>
          <p:cNvSpPr/>
          <p:nvPr/>
        </p:nvSpPr>
        <p:spPr>
          <a:xfrm>
            <a:off x="6080760" y="1847088"/>
            <a:ext cx="2743200" cy="320040"/>
          </a:xfrm>
          <a:prstGeom prst="rect">
            <a:avLst/>
          </a:prstGeom>
          <a:noFill/>
          <a:ln/>
        </p:spPr>
        <p:txBody>
          <a:bodyPr wrap="square" lIns="0" tIns="0" rIns="0" bIns="0" rtlCol="0" anchor="ctr"/>
          <a:lstStyle/>
          <a:p>
            <a:pPr algn="ctr" indent="0" marL="0">
              <a:buNone/>
            </a:pPr>
            <a:r>
              <a:rPr lang="en-US" sz="900" b="1" dirty="0">
                <a:solidFill>
                  <a:srgbClr val="0A7585"/>
                </a:solidFill>
                <a:latin typeface="Calibri" pitchFamily="34" charset="0"/>
                <a:ea typeface="Calibri" pitchFamily="34" charset="-122"/>
                <a:cs typeface="Calibri" pitchFamily="34" charset="-120"/>
              </a:rPr>
              <a:t>Database migrations</a:t>
            </a:r>
            <a:endParaRPr lang="en-US" sz="900" dirty="0"/>
          </a:p>
        </p:txBody>
      </p:sp>
      <p:sp>
        <p:nvSpPr>
          <p:cNvPr id="20" name="Text 18"/>
          <p:cNvSpPr/>
          <p:nvPr/>
        </p:nvSpPr>
        <p:spPr>
          <a:xfrm>
            <a:off x="6080760" y="2139696"/>
            <a:ext cx="2743200" cy="274320"/>
          </a:xfrm>
          <a:prstGeom prst="rect">
            <a:avLst/>
          </a:prstGeom>
          <a:noFill/>
          <a:ln/>
        </p:spPr>
        <p:txBody>
          <a:bodyPr wrap="square" lIns="0" tIns="0" rIns="0" bIns="0" rtlCol="0" anchor="ctr"/>
          <a:lstStyle/>
          <a:p>
            <a:pPr algn="ctr" indent="0" marL="0">
              <a:buNone/>
            </a:pPr>
            <a:r>
              <a:rPr lang="en-US" sz="800" dirty="0">
                <a:solidFill>
                  <a:srgbClr val="6B8099"/>
                </a:solidFill>
                <a:latin typeface="Calibri" pitchFamily="34" charset="0"/>
                <a:ea typeface="Calibri" pitchFamily="34" charset="-122"/>
                <a:cs typeface="Calibri" pitchFamily="34" charset="-120"/>
              </a:rPr>
              <a:t>10 user stories shipped</a:t>
            </a:r>
            <a:endParaRPr lang="en-US" sz="800" dirty="0"/>
          </a:p>
          <a:p>
            <a:pPr algn="ctr" indent="0" marL="0">
              <a:buNone/>
            </a:pPr>
            <a:r>
              <a:rPr lang="en-US" sz="800" dirty="0">
                <a:solidFill>
                  <a:srgbClr val="6B8099"/>
                </a:solidFill>
                <a:latin typeface="Calibri" pitchFamily="34" charset="0"/>
                <a:ea typeface="Calibri" pitchFamily="34" charset="-122"/>
                <a:cs typeface="Calibri" pitchFamily="34" charset="-120"/>
              </a:rPr>
              <a:t>Full MVP deployed</a:t>
            </a:r>
            <a:endParaRPr lang="en-US" sz="800" dirty="0"/>
          </a:p>
        </p:txBody>
      </p:sp>
      <p:sp>
        <p:nvSpPr>
          <p:cNvPr id="21" name="Shape 19"/>
          <p:cNvSpPr/>
          <p:nvPr/>
        </p:nvSpPr>
        <p:spPr>
          <a:xfrm>
            <a:off x="320040" y="2651760"/>
            <a:ext cx="8503920" cy="658368"/>
          </a:xfrm>
          <a:prstGeom prst="roundRect">
            <a:avLst>
              <a:gd name="adj" fmla="val 11111"/>
            </a:avLst>
          </a:prstGeom>
          <a:solidFill>
            <a:srgbClr val="EBF4F6"/>
          </a:solidFill>
          <a:ln w="12700">
            <a:solidFill>
              <a:srgbClr val="EBF4F6"/>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502920" y="2724912"/>
            <a:ext cx="8229600" cy="256032"/>
          </a:xfrm>
          <a:prstGeom prst="rect">
            <a:avLst/>
          </a:prstGeom>
          <a:noFill/>
          <a:ln/>
        </p:spPr>
        <p:txBody>
          <a:bodyPr wrap="square" lIns="0" tIns="0" rIns="0" bIns="0" rtlCol="0" anchor="ctr"/>
          <a:lstStyle/>
          <a:p>
            <a:pPr indent="0" marL="0">
              <a:buNone/>
            </a:pPr>
            <a:r>
              <a:rPr lang="en-US" sz="1100" b="1" dirty="0">
                <a:solidFill>
                  <a:srgbClr val="0A7585"/>
                </a:solidFill>
                <a:latin typeface="Calibri" pitchFamily="34" charset="0"/>
                <a:ea typeface="Calibri" pitchFamily="34" charset="-122"/>
                <a:cs typeface="Calibri" pitchFamily="34" charset="-120"/>
              </a:rPr>
              <a:t>PostHog analytics live in production · EU data residency · Real event data from live users</a:t>
            </a:r>
            <a:endParaRPr lang="en-US" sz="1100" dirty="0"/>
          </a:p>
        </p:txBody>
      </p:sp>
      <p:sp>
        <p:nvSpPr>
          <p:cNvPr id="23" name="Text 21"/>
          <p:cNvSpPr/>
          <p:nvPr/>
        </p:nvSpPr>
        <p:spPr>
          <a:xfrm>
            <a:off x="502920" y="2980944"/>
            <a:ext cx="8229600" cy="228600"/>
          </a:xfrm>
          <a:prstGeom prst="rect">
            <a:avLst/>
          </a:prstGeom>
          <a:noFill/>
          <a:ln/>
        </p:spPr>
        <p:txBody>
          <a:bodyPr wrap="square" lIns="0" tIns="0" rIns="0" bIns="0" rtlCol="0" anchor="ctr"/>
          <a:lstStyle/>
          <a:p>
            <a:pPr indent="0" marL="0">
              <a:buNone/>
            </a:pPr>
            <a:r>
              <a:rPr lang="en-US" sz="950" dirty="0">
                <a:solidFill>
                  <a:srgbClr val="6B8099"/>
                </a:solidFill>
                <a:latin typeface="Calibri" pitchFamily="34" charset="0"/>
                <a:ea typeface="Calibri" pitchFamily="34" charset="-122"/>
                <a:cs typeface="Calibri" pitchFamily="34" charset="-120"/>
              </a:rPr>
              <a:t>Dashboard available for judge review · Committed at 03-build/analytics/dashboard-link.md</a:t>
            </a:r>
            <a:endParaRPr lang="en-US" sz="950" dirty="0"/>
          </a:p>
        </p:txBody>
      </p:sp>
      <p:sp>
        <p:nvSpPr>
          <p:cNvPr id="24" name="Shape 22"/>
          <p:cNvSpPr/>
          <p:nvPr/>
        </p:nvSpPr>
        <p:spPr>
          <a:xfrm>
            <a:off x="320040" y="3438144"/>
            <a:ext cx="8503920" cy="658368"/>
          </a:xfrm>
          <a:prstGeom prst="roundRect">
            <a:avLst>
              <a:gd name="adj" fmla="val 11111"/>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25" name="Text 23"/>
          <p:cNvSpPr/>
          <p:nvPr/>
        </p:nvSpPr>
        <p:spPr>
          <a:xfrm>
            <a:off x="502920" y="3511296"/>
            <a:ext cx="8229600" cy="256032"/>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Waitlist: 10 real signups in 04-gtm/traction/waitlist.csv — each entry has timestamp, email, role, subject, source</a:t>
            </a:r>
            <a:endParaRPr lang="en-US" sz="1050" dirty="0"/>
          </a:p>
        </p:txBody>
      </p:sp>
      <p:sp>
        <p:nvSpPr>
          <p:cNvPr id="26" name="Text 24"/>
          <p:cNvSpPr/>
          <p:nvPr/>
        </p:nvSpPr>
        <p:spPr>
          <a:xfrm>
            <a:off x="502920" y="3767328"/>
            <a:ext cx="8229600" cy="228600"/>
          </a:xfrm>
          <a:prstGeom prst="rect">
            <a:avLst/>
          </a:prstGeom>
          <a:noFill/>
          <a:ln/>
        </p:spPr>
        <p:txBody>
          <a:bodyPr wrap="square" lIns="0" tIns="0" rIns="0" bIns="0" rtlCol="0" anchor="ctr"/>
          <a:lstStyle/>
          <a:p>
            <a:pPr indent="0" marL="0">
              <a:buNone/>
            </a:pPr>
            <a:r>
              <a:rPr lang="en-US" sz="900" dirty="0">
                <a:solidFill>
                  <a:srgbClr val="6B8099"/>
                </a:solidFill>
                <a:latin typeface="Calibri" pitchFamily="34" charset="0"/>
                <a:ea typeface="Calibri" pitchFamily="34" charset="-122"/>
                <a:cs typeface="Calibri" pitchFamily="34" charset="-120"/>
              </a:rPr>
              <a:t>Collected May 18 2026 · Growth target before commercial launch: 20+ signups via tutor referral channel</a:t>
            </a:r>
            <a:endParaRPr lang="en-US" sz="900" dirty="0"/>
          </a:p>
        </p:txBody>
      </p:sp>
      <p:sp>
        <p:nvSpPr>
          <p:cNvPr id="27" name="Shape 25"/>
          <p:cNvSpPr/>
          <p:nvPr/>
        </p:nvSpPr>
        <p:spPr>
          <a:xfrm>
            <a:off x="320040" y="4224528"/>
            <a:ext cx="8503920" cy="640080"/>
          </a:xfrm>
          <a:prstGeom prst="roundRect">
            <a:avLst>
              <a:gd name="adj" fmla="val 11429"/>
            </a:avLst>
          </a:prstGeom>
          <a:solidFill>
            <a:srgbClr val="FFF8E8"/>
          </a:solidFill>
          <a:ln w="12700">
            <a:solidFill>
              <a:srgbClr val="FFF8E8"/>
            </a:solidFill>
            <a:prstDash val="solid"/>
          </a:ln>
          <a:effectLst>
            <a:outerShdw sx="100000" sy="100000" kx="0" ky="0" algn="bl" rotWithShape="0" blurRad="101600" dist="38100" dir="2700000">
              <a:srgbClr val="000000">
                <a:alpha val="12000"/>
              </a:srgbClr>
            </a:outerShdw>
          </a:effectLst>
        </p:spPr>
      </p:sp>
      <p:sp>
        <p:nvSpPr>
          <p:cNvPr id="28" name="Text 26"/>
          <p:cNvSpPr/>
          <p:nvPr/>
        </p:nvSpPr>
        <p:spPr>
          <a:xfrm>
            <a:off x="502920" y="4297680"/>
            <a:ext cx="1371600" cy="256032"/>
          </a:xfrm>
          <a:prstGeom prst="rect">
            <a:avLst/>
          </a:prstGeom>
          <a:noFill/>
          <a:ln/>
        </p:spPr>
        <p:txBody>
          <a:bodyPr wrap="square" lIns="0" tIns="0" rIns="0" bIns="0" rtlCol="0" anchor="ctr"/>
          <a:lstStyle/>
          <a:p>
            <a:pPr indent="0" marL="0">
              <a:buNone/>
            </a:pPr>
            <a:r>
              <a:rPr lang="en-US" sz="1000" b="1" dirty="0">
                <a:solidFill>
                  <a:srgbClr val="E8A020"/>
                </a:solidFill>
                <a:latin typeface="Calibri" pitchFamily="34" charset="0"/>
                <a:ea typeface="Calibri" pitchFamily="34" charset="-122"/>
                <a:cs typeface="Calibri" pitchFamily="34" charset="-120"/>
              </a:rPr>
              <a:t>Next milestones:</a:t>
            </a:r>
            <a:endParaRPr lang="en-US" sz="1000" dirty="0"/>
          </a:p>
        </p:txBody>
      </p:sp>
      <p:sp>
        <p:nvSpPr>
          <p:cNvPr id="29" name="Text 27"/>
          <p:cNvSpPr/>
          <p:nvPr/>
        </p:nvSpPr>
        <p:spPr>
          <a:xfrm>
            <a:off x="1920240" y="4297680"/>
            <a:ext cx="6675120" cy="256032"/>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20 waitlist signups  ·  First paying lesson  ·  MOU from one partner tutor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20040" y="91440"/>
            <a:ext cx="228600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07 · BUSINESS MODEL</a:t>
            </a:r>
            <a:endParaRPr lang="en-US" sz="800" dirty="0"/>
          </a:p>
        </p:txBody>
      </p:sp>
      <p:sp>
        <p:nvSpPr>
          <p:cNvPr id="4" name="Text 2"/>
          <p:cNvSpPr/>
          <p:nvPr/>
        </p:nvSpPr>
        <p:spPr>
          <a:xfrm>
            <a:off x="320040" y="292608"/>
            <a:ext cx="850392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Commission marketplace — arithmetic shown.</a:t>
            </a:r>
            <a:endParaRPr lang="en-US" sz="3000" dirty="0"/>
          </a:p>
        </p:txBody>
      </p:sp>
      <p:sp>
        <p:nvSpPr>
          <p:cNvPr id="5" name="Text 3"/>
          <p:cNvSpPr/>
          <p:nvPr/>
        </p:nvSpPr>
        <p:spPr>
          <a:xfrm>
            <a:off x="6858000" y="91440"/>
            <a:ext cx="2011680" cy="256032"/>
          </a:xfrm>
          <a:prstGeom prst="rect">
            <a:avLst/>
          </a:prstGeom>
          <a:noFill/>
          <a:ln/>
        </p:spPr>
        <p:txBody>
          <a:bodyPr wrap="square" lIns="0" tIns="0" rIns="0" bIns="0"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6" name="Shape 4"/>
          <p:cNvSpPr/>
          <p:nvPr/>
        </p:nvSpPr>
        <p:spPr>
          <a:xfrm>
            <a:off x="320040" y="1005840"/>
            <a:ext cx="8503920" cy="347472"/>
          </a:xfrm>
          <a:prstGeom prst="rect">
            <a:avLst/>
          </a:prstGeom>
          <a:solidFill>
            <a:srgbClr val="0B1F3A"/>
          </a:solidFill>
          <a:ln w="12700">
            <a:solidFill>
              <a:srgbClr val="0B1F3A"/>
            </a:solidFill>
            <a:prstDash val="solid"/>
          </a:ln>
        </p:spPr>
      </p:sp>
      <p:sp>
        <p:nvSpPr>
          <p:cNvPr id="7" name="Text 5"/>
          <p:cNvSpPr/>
          <p:nvPr/>
        </p:nvSpPr>
        <p:spPr>
          <a:xfrm>
            <a:off x="457200" y="1005840"/>
            <a:ext cx="4114800" cy="347472"/>
          </a:xfrm>
          <a:prstGeom prst="rect">
            <a:avLst/>
          </a:prstGeom>
          <a:noFill/>
          <a:ln/>
        </p:spPr>
        <p:txBody>
          <a:bodyPr wrap="square" lIns="0" tIns="0" rIns="0" bIns="0" rtlCol="0" anchor="ctr"/>
          <a:lstStyle/>
          <a:p>
            <a:pPr indent="0" marL="0">
              <a:buNone/>
            </a:pPr>
            <a:r>
              <a:rPr lang="en-US" sz="900" b="1" spc="100" kern="0" dirty="0">
                <a:solidFill>
                  <a:srgbClr val="E8A020"/>
                </a:solidFill>
                <a:latin typeface="Calibri" pitchFamily="34" charset="0"/>
                <a:ea typeface="Calibri" pitchFamily="34" charset="-122"/>
                <a:cs typeface="Calibri" pitchFamily="34" charset="-120"/>
              </a:rPr>
              <a:t>Metric</a:t>
            </a:r>
            <a:endParaRPr lang="en-US" sz="900" dirty="0"/>
          </a:p>
        </p:txBody>
      </p:sp>
      <p:sp>
        <p:nvSpPr>
          <p:cNvPr id="8" name="Text 6"/>
          <p:cNvSpPr/>
          <p:nvPr/>
        </p:nvSpPr>
        <p:spPr>
          <a:xfrm>
            <a:off x="4663440" y="1005840"/>
            <a:ext cx="4023360" cy="347472"/>
          </a:xfrm>
          <a:prstGeom prst="rect">
            <a:avLst/>
          </a:prstGeom>
          <a:noFill/>
          <a:ln/>
        </p:spPr>
        <p:txBody>
          <a:bodyPr wrap="square" lIns="0" tIns="0" rIns="0" bIns="0" rtlCol="0" anchor="ctr"/>
          <a:lstStyle/>
          <a:p>
            <a:pPr indent="0" marL="0">
              <a:buNone/>
            </a:pPr>
            <a:r>
              <a:rPr lang="en-US" sz="900" b="1" spc="100" kern="0" dirty="0">
                <a:solidFill>
                  <a:srgbClr val="E8A020"/>
                </a:solidFill>
                <a:latin typeface="Calibri" pitchFamily="34" charset="0"/>
                <a:ea typeface="Calibri" pitchFamily="34" charset="-122"/>
                <a:cs typeface="Calibri" pitchFamily="34" charset="-120"/>
              </a:rPr>
              <a:t>Value</a:t>
            </a:r>
            <a:endParaRPr lang="en-US" sz="900" dirty="0"/>
          </a:p>
        </p:txBody>
      </p:sp>
      <p:sp>
        <p:nvSpPr>
          <p:cNvPr id="9" name="Shape 7"/>
          <p:cNvSpPr/>
          <p:nvPr/>
        </p:nvSpPr>
        <p:spPr>
          <a:xfrm>
            <a:off x="320040" y="1353312"/>
            <a:ext cx="8503920" cy="393192"/>
          </a:xfrm>
          <a:prstGeom prst="rect">
            <a:avLst/>
          </a:prstGeom>
          <a:solidFill>
            <a:srgbClr val="FFFFFF"/>
          </a:solidFill>
          <a:ln w="12700">
            <a:solidFill>
              <a:srgbClr val="FFFFFF"/>
            </a:solidFill>
            <a:prstDash val="solid"/>
          </a:ln>
        </p:spPr>
      </p:sp>
      <p:sp>
        <p:nvSpPr>
          <p:cNvPr id="10" name="Text 8"/>
          <p:cNvSpPr/>
          <p:nvPr/>
        </p:nvSpPr>
        <p:spPr>
          <a:xfrm>
            <a:off x="457200" y="1408176"/>
            <a:ext cx="4114800" cy="301752"/>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Model</a:t>
            </a:r>
            <a:endParaRPr lang="en-US" sz="1100" dirty="0"/>
          </a:p>
        </p:txBody>
      </p:sp>
      <p:sp>
        <p:nvSpPr>
          <p:cNvPr id="11" name="Text 9"/>
          <p:cNvSpPr/>
          <p:nvPr/>
        </p:nvSpPr>
        <p:spPr>
          <a:xfrm>
            <a:off x="4663440" y="1408176"/>
            <a:ext cx="4023360" cy="30175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15% commission per completed lesson</a:t>
            </a:r>
            <a:endParaRPr lang="en-US" sz="1100" dirty="0"/>
          </a:p>
        </p:txBody>
      </p:sp>
      <p:sp>
        <p:nvSpPr>
          <p:cNvPr id="12" name="Shape 10"/>
          <p:cNvSpPr/>
          <p:nvPr/>
        </p:nvSpPr>
        <p:spPr>
          <a:xfrm>
            <a:off x="320040" y="1746504"/>
            <a:ext cx="8503920" cy="0"/>
          </a:xfrm>
          <a:prstGeom prst="line">
            <a:avLst/>
          </a:prstGeom>
          <a:noFill/>
          <a:ln w="6350">
            <a:solidFill>
              <a:srgbClr val="E0E8EE"/>
            </a:solidFill>
            <a:prstDash val="solid"/>
          </a:ln>
        </p:spPr>
      </p:sp>
      <p:sp>
        <p:nvSpPr>
          <p:cNvPr id="13" name="Shape 11"/>
          <p:cNvSpPr/>
          <p:nvPr/>
        </p:nvSpPr>
        <p:spPr>
          <a:xfrm>
            <a:off x="320040" y="1746504"/>
            <a:ext cx="8503920" cy="393192"/>
          </a:xfrm>
          <a:prstGeom prst="rect">
            <a:avLst/>
          </a:prstGeom>
          <a:solidFill>
            <a:srgbClr val="F7FAFB"/>
          </a:solidFill>
          <a:ln w="12700">
            <a:solidFill>
              <a:srgbClr val="F7FAFB"/>
            </a:solidFill>
            <a:prstDash val="solid"/>
          </a:ln>
        </p:spPr>
      </p:sp>
      <p:sp>
        <p:nvSpPr>
          <p:cNvPr id="14" name="Text 12"/>
          <p:cNvSpPr/>
          <p:nvPr/>
        </p:nvSpPr>
        <p:spPr>
          <a:xfrm>
            <a:off x="457200" y="1801368"/>
            <a:ext cx="4114800" cy="301752"/>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Average lesson rate</a:t>
            </a:r>
            <a:endParaRPr lang="en-US" sz="1100" dirty="0"/>
          </a:p>
        </p:txBody>
      </p:sp>
      <p:sp>
        <p:nvSpPr>
          <p:cNvPr id="15" name="Text 13"/>
          <p:cNvSpPr/>
          <p:nvPr/>
        </p:nvSpPr>
        <p:spPr>
          <a:xfrm>
            <a:off x="4663440" y="1801368"/>
            <a:ext cx="4023360" cy="30175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GEL 35</a:t>
            </a:r>
            <a:endParaRPr lang="en-US" sz="1100" dirty="0"/>
          </a:p>
        </p:txBody>
      </p:sp>
      <p:sp>
        <p:nvSpPr>
          <p:cNvPr id="16" name="Shape 14"/>
          <p:cNvSpPr/>
          <p:nvPr/>
        </p:nvSpPr>
        <p:spPr>
          <a:xfrm>
            <a:off x="320040" y="2139696"/>
            <a:ext cx="8503920" cy="0"/>
          </a:xfrm>
          <a:prstGeom prst="line">
            <a:avLst/>
          </a:prstGeom>
          <a:noFill/>
          <a:ln w="6350">
            <a:solidFill>
              <a:srgbClr val="E0E8EE"/>
            </a:solidFill>
            <a:prstDash val="solid"/>
          </a:ln>
        </p:spPr>
      </p:sp>
      <p:sp>
        <p:nvSpPr>
          <p:cNvPr id="17" name="Shape 15"/>
          <p:cNvSpPr/>
          <p:nvPr/>
        </p:nvSpPr>
        <p:spPr>
          <a:xfrm>
            <a:off x="320040" y="2139696"/>
            <a:ext cx="8503920" cy="393192"/>
          </a:xfrm>
          <a:prstGeom prst="rect">
            <a:avLst/>
          </a:prstGeom>
          <a:solidFill>
            <a:srgbClr val="FFFFFF"/>
          </a:solidFill>
          <a:ln w="12700">
            <a:solidFill>
              <a:srgbClr val="FFFFFF"/>
            </a:solidFill>
            <a:prstDash val="solid"/>
          </a:ln>
        </p:spPr>
      </p:sp>
      <p:sp>
        <p:nvSpPr>
          <p:cNvPr id="18" name="Text 16"/>
          <p:cNvSpPr/>
          <p:nvPr/>
        </p:nvSpPr>
        <p:spPr>
          <a:xfrm>
            <a:off x="457200" y="2194560"/>
            <a:ext cx="4114800" cy="301752"/>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Revenue per lesson</a:t>
            </a:r>
            <a:endParaRPr lang="en-US" sz="1100" dirty="0"/>
          </a:p>
        </p:txBody>
      </p:sp>
      <p:sp>
        <p:nvSpPr>
          <p:cNvPr id="19" name="Text 17"/>
          <p:cNvSpPr/>
          <p:nvPr/>
        </p:nvSpPr>
        <p:spPr>
          <a:xfrm>
            <a:off x="4663440" y="2194560"/>
            <a:ext cx="4023360" cy="30175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GEL 5.25   (= GEL 35 × 15%)</a:t>
            </a:r>
            <a:endParaRPr lang="en-US" sz="1100" dirty="0"/>
          </a:p>
        </p:txBody>
      </p:sp>
      <p:sp>
        <p:nvSpPr>
          <p:cNvPr id="20" name="Shape 18"/>
          <p:cNvSpPr/>
          <p:nvPr/>
        </p:nvSpPr>
        <p:spPr>
          <a:xfrm>
            <a:off x="320040" y="2532888"/>
            <a:ext cx="8503920" cy="0"/>
          </a:xfrm>
          <a:prstGeom prst="line">
            <a:avLst/>
          </a:prstGeom>
          <a:noFill/>
          <a:ln w="6350">
            <a:solidFill>
              <a:srgbClr val="E0E8EE"/>
            </a:solidFill>
            <a:prstDash val="solid"/>
          </a:ln>
        </p:spPr>
      </p:sp>
      <p:sp>
        <p:nvSpPr>
          <p:cNvPr id="21" name="Shape 19"/>
          <p:cNvSpPr/>
          <p:nvPr/>
        </p:nvSpPr>
        <p:spPr>
          <a:xfrm>
            <a:off x="320040" y="2532888"/>
            <a:ext cx="8503920" cy="393192"/>
          </a:xfrm>
          <a:prstGeom prst="rect">
            <a:avLst/>
          </a:prstGeom>
          <a:solidFill>
            <a:srgbClr val="F7FAFB"/>
          </a:solidFill>
          <a:ln w="12700">
            <a:solidFill>
              <a:srgbClr val="F7FAFB"/>
            </a:solidFill>
            <a:prstDash val="solid"/>
          </a:ln>
        </p:spPr>
      </p:sp>
      <p:sp>
        <p:nvSpPr>
          <p:cNvPr id="22" name="Text 20"/>
          <p:cNvSpPr/>
          <p:nvPr/>
        </p:nvSpPr>
        <p:spPr>
          <a:xfrm>
            <a:off x="457200" y="2587752"/>
            <a:ext cx="4114800" cy="301752"/>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Lessons per student per year</a:t>
            </a:r>
            <a:endParaRPr lang="en-US" sz="1100" dirty="0"/>
          </a:p>
        </p:txBody>
      </p:sp>
      <p:sp>
        <p:nvSpPr>
          <p:cNvPr id="23" name="Text 21"/>
          <p:cNvSpPr/>
          <p:nvPr/>
        </p:nvSpPr>
        <p:spPr>
          <a:xfrm>
            <a:off x="4663440" y="2587752"/>
            <a:ext cx="4023360" cy="30175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48   (2×/week, 24 teaching weeks)</a:t>
            </a:r>
            <a:endParaRPr lang="en-US" sz="1100" dirty="0"/>
          </a:p>
        </p:txBody>
      </p:sp>
      <p:sp>
        <p:nvSpPr>
          <p:cNvPr id="24" name="Shape 22"/>
          <p:cNvSpPr/>
          <p:nvPr/>
        </p:nvSpPr>
        <p:spPr>
          <a:xfrm>
            <a:off x="320040" y="2926080"/>
            <a:ext cx="8503920" cy="0"/>
          </a:xfrm>
          <a:prstGeom prst="line">
            <a:avLst/>
          </a:prstGeom>
          <a:noFill/>
          <a:ln w="6350">
            <a:solidFill>
              <a:srgbClr val="E0E8EE"/>
            </a:solidFill>
            <a:prstDash val="solid"/>
          </a:ln>
        </p:spPr>
      </p:sp>
      <p:sp>
        <p:nvSpPr>
          <p:cNvPr id="25" name="Shape 23"/>
          <p:cNvSpPr/>
          <p:nvPr/>
        </p:nvSpPr>
        <p:spPr>
          <a:xfrm>
            <a:off x="320040" y="2926080"/>
            <a:ext cx="8503920" cy="393192"/>
          </a:xfrm>
          <a:prstGeom prst="rect">
            <a:avLst/>
          </a:prstGeom>
          <a:solidFill>
            <a:srgbClr val="FFFFFF"/>
          </a:solidFill>
          <a:ln w="12700">
            <a:solidFill>
              <a:srgbClr val="FFFFFF"/>
            </a:solidFill>
            <a:prstDash val="solid"/>
          </a:ln>
        </p:spPr>
      </p:sp>
      <p:sp>
        <p:nvSpPr>
          <p:cNvPr id="26" name="Text 24"/>
          <p:cNvSpPr/>
          <p:nvPr/>
        </p:nvSpPr>
        <p:spPr>
          <a:xfrm>
            <a:off x="457200" y="2980944"/>
            <a:ext cx="4114800" cy="301752"/>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Student LTV</a:t>
            </a:r>
            <a:endParaRPr lang="en-US" sz="1100" dirty="0"/>
          </a:p>
        </p:txBody>
      </p:sp>
      <p:sp>
        <p:nvSpPr>
          <p:cNvPr id="27" name="Text 25"/>
          <p:cNvSpPr/>
          <p:nvPr/>
        </p:nvSpPr>
        <p:spPr>
          <a:xfrm>
            <a:off x="4663440" y="2980944"/>
            <a:ext cx="4023360" cy="30175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GEL 252   (= 48 × GEL 35 × 15%)</a:t>
            </a:r>
            <a:endParaRPr lang="en-US" sz="1100" dirty="0"/>
          </a:p>
        </p:txBody>
      </p:sp>
      <p:sp>
        <p:nvSpPr>
          <p:cNvPr id="28" name="Shape 26"/>
          <p:cNvSpPr/>
          <p:nvPr/>
        </p:nvSpPr>
        <p:spPr>
          <a:xfrm>
            <a:off x="320040" y="3319272"/>
            <a:ext cx="8503920" cy="0"/>
          </a:xfrm>
          <a:prstGeom prst="line">
            <a:avLst/>
          </a:prstGeom>
          <a:noFill/>
          <a:ln w="6350">
            <a:solidFill>
              <a:srgbClr val="E0E8EE"/>
            </a:solidFill>
            <a:prstDash val="solid"/>
          </a:ln>
        </p:spPr>
      </p:sp>
      <p:sp>
        <p:nvSpPr>
          <p:cNvPr id="29" name="Shape 27"/>
          <p:cNvSpPr/>
          <p:nvPr/>
        </p:nvSpPr>
        <p:spPr>
          <a:xfrm>
            <a:off x="320040" y="3319272"/>
            <a:ext cx="8503920" cy="393192"/>
          </a:xfrm>
          <a:prstGeom prst="rect">
            <a:avLst/>
          </a:prstGeom>
          <a:solidFill>
            <a:srgbClr val="F7FAFB"/>
          </a:solidFill>
          <a:ln w="12700">
            <a:solidFill>
              <a:srgbClr val="F7FAFB"/>
            </a:solidFill>
            <a:prstDash val="solid"/>
          </a:ln>
        </p:spPr>
      </p:sp>
      <p:sp>
        <p:nvSpPr>
          <p:cNvPr id="30" name="Text 28"/>
          <p:cNvSpPr/>
          <p:nvPr/>
        </p:nvSpPr>
        <p:spPr>
          <a:xfrm>
            <a:off x="457200" y="3374136"/>
            <a:ext cx="4114800" cy="301752"/>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CAC — tutor referral channel</a:t>
            </a:r>
            <a:endParaRPr lang="en-US" sz="1100" dirty="0"/>
          </a:p>
        </p:txBody>
      </p:sp>
      <p:sp>
        <p:nvSpPr>
          <p:cNvPr id="31" name="Text 29"/>
          <p:cNvSpPr/>
          <p:nvPr/>
        </p:nvSpPr>
        <p:spPr>
          <a:xfrm>
            <a:off x="4663440" y="3374136"/>
            <a:ext cx="4023360" cy="30175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GEL 1.32   (time-cost only, no paid spend)</a:t>
            </a:r>
            <a:endParaRPr lang="en-US" sz="1100" dirty="0"/>
          </a:p>
        </p:txBody>
      </p:sp>
      <p:sp>
        <p:nvSpPr>
          <p:cNvPr id="32" name="Shape 30"/>
          <p:cNvSpPr/>
          <p:nvPr/>
        </p:nvSpPr>
        <p:spPr>
          <a:xfrm>
            <a:off x="320040" y="3712464"/>
            <a:ext cx="8503920" cy="0"/>
          </a:xfrm>
          <a:prstGeom prst="line">
            <a:avLst/>
          </a:prstGeom>
          <a:noFill/>
          <a:ln w="6350">
            <a:solidFill>
              <a:srgbClr val="E0E8EE"/>
            </a:solidFill>
            <a:prstDash val="solid"/>
          </a:ln>
        </p:spPr>
      </p:sp>
      <p:sp>
        <p:nvSpPr>
          <p:cNvPr id="33" name="Shape 31"/>
          <p:cNvSpPr/>
          <p:nvPr/>
        </p:nvSpPr>
        <p:spPr>
          <a:xfrm>
            <a:off x="320040" y="3712464"/>
            <a:ext cx="8503920" cy="393192"/>
          </a:xfrm>
          <a:prstGeom prst="rect">
            <a:avLst/>
          </a:prstGeom>
          <a:solidFill>
            <a:srgbClr val="FFFFFF"/>
          </a:solidFill>
          <a:ln w="12700">
            <a:solidFill>
              <a:srgbClr val="FFFFFF"/>
            </a:solidFill>
            <a:prstDash val="solid"/>
          </a:ln>
        </p:spPr>
      </p:sp>
      <p:sp>
        <p:nvSpPr>
          <p:cNvPr id="34" name="Text 32"/>
          <p:cNvSpPr/>
          <p:nvPr/>
        </p:nvSpPr>
        <p:spPr>
          <a:xfrm>
            <a:off x="457200" y="3767328"/>
            <a:ext cx="4114800" cy="301752"/>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CAC — Telegram channel</a:t>
            </a:r>
            <a:endParaRPr lang="en-US" sz="1100" dirty="0"/>
          </a:p>
        </p:txBody>
      </p:sp>
      <p:sp>
        <p:nvSpPr>
          <p:cNvPr id="35" name="Text 33"/>
          <p:cNvSpPr/>
          <p:nvPr/>
        </p:nvSpPr>
        <p:spPr>
          <a:xfrm>
            <a:off x="4663440" y="3767328"/>
            <a:ext cx="4023360" cy="30175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GEL 8   (time-cost only)</a:t>
            </a:r>
            <a:endParaRPr lang="en-US" sz="1100" dirty="0"/>
          </a:p>
        </p:txBody>
      </p:sp>
      <p:sp>
        <p:nvSpPr>
          <p:cNvPr id="36" name="Shape 34"/>
          <p:cNvSpPr/>
          <p:nvPr/>
        </p:nvSpPr>
        <p:spPr>
          <a:xfrm>
            <a:off x="320040" y="4105656"/>
            <a:ext cx="8503920" cy="0"/>
          </a:xfrm>
          <a:prstGeom prst="line">
            <a:avLst/>
          </a:prstGeom>
          <a:noFill/>
          <a:ln w="6350">
            <a:solidFill>
              <a:srgbClr val="E0E8EE"/>
            </a:solidFill>
            <a:prstDash val="solid"/>
          </a:ln>
        </p:spPr>
      </p:sp>
      <p:sp>
        <p:nvSpPr>
          <p:cNvPr id="37" name="Shape 35"/>
          <p:cNvSpPr/>
          <p:nvPr/>
        </p:nvSpPr>
        <p:spPr>
          <a:xfrm>
            <a:off x="320040" y="4105656"/>
            <a:ext cx="8503920" cy="393192"/>
          </a:xfrm>
          <a:prstGeom prst="rect">
            <a:avLst/>
          </a:prstGeom>
          <a:solidFill>
            <a:srgbClr val="EBF4F6"/>
          </a:solidFill>
          <a:ln w="12700">
            <a:solidFill>
              <a:srgbClr val="EBF4F6"/>
            </a:solidFill>
            <a:prstDash val="solid"/>
          </a:ln>
        </p:spPr>
      </p:sp>
      <p:sp>
        <p:nvSpPr>
          <p:cNvPr id="38" name="Text 36"/>
          <p:cNvSpPr/>
          <p:nvPr/>
        </p:nvSpPr>
        <p:spPr>
          <a:xfrm>
            <a:off x="457200" y="4160520"/>
            <a:ext cx="4114800" cy="301752"/>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LTV : CAC (referral)</a:t>
            </a:r>
            <a:endParaRPr lang="en-US" sz="1100" dirty="0"/>
          </a:p>
        </p:txBody>
      </p:sp>
      <p:sp>
        <p:nvSpPr>
          <p:cNvPr id="39" name="Text 37"/>
          <p:cNvSpPr/>
          <p:nvPr/>
        </p:nvSpPr>
        <p:spPr>
          <a:xfrm>
            <a:off x="4663440" y="4160520"/>
            <a:ext cx="4023360" cy="301752"/>
          </a:xfrm>
          <a:prstGeom prst="rect">
            <a:avLst/>
          </a:prstGeom>
          <a:noFill/>
          <a:ln/>
        </p:spPr>
        <p:txBody>
          <a:bodyPr wrap="square" lIns="0" tIns="0" rIns="0" bIns="0" rtlCol="0" anchor="ctr"/>
          <a:lstStyle/>
          <a:p>
            <a:pPr indent="0" marL="0">
              <a:buNone/>
            </a:pPr>
            <a:r>
              <a:rPr lang="en-US" sz="1100" b="1" dirty="0">
                <a:solidFill>
                  <a:srgbClr val="0A7585"/>
                </a:solidFill>
                <a:latin typeface="Calibri" pitchFamily="34" charset="0"/>
                <a:ea typeface="Calibri" pitchFamily="34" charset="-122"/>
                <a:cs typeface="Calibri" pitchFamily="34" charset="-120"/>
              </a:rPr>
              <a:t>143 : 1</a:t>
            </a:r>
            <a:endParaRPr lang="en-US" sz="1100" dirty="0"/>
          </a:p>
        </p:txBody>
      </p:sp>
      <p:sp>
        <p:nvSpPr>
          <p:cNvPr id="40" name="Shape 38"/>
          <p:cNvSpPr/>
          <p:nvPr/>
        </p:nvSpPr>
        <p:spPr>
          <a:xfrm>
            <a:off x="320040" y="4498848"/>
            <a:ext cx="8503920" cy="0"/>
          </a:xfrm>
          <a:prstGeom prst="line">
            <a:avLst/>
          </a:prstGeom>
          <a:noFill/>
          <a:ln w="6350">
            <a:solidFill>
              <a:srgbClr val="E0E8EE"/>
            </a:solidFill>
            <a:prstDash val="solid"/>
          </a:ln>
        </p:spPr>
      </p:sp>
      <p:sp>
        <p:nvSpPr>
          <p:cNvPr id="41" name="Shape 39"/>
          <p:cNvSpPr/>
          <p:nvPr/>
        </p:nvSpPr>
        <p:spPr>
          <a:xfrm>
            <a:off x="320040" y="4498848"/>
            <a:ext cx="8503920" cy="393192"/>
          </a:xfrm>
          <a:prstGeom prst="rect">
            <a:avLst/>
          </a:prstGeom>
          <a:solidFill>
            <a:srgbClr val="FFFFFF"/>
          </a:solidFill>
          <a:ln w="12700">
            <a:solidFill>
              <a:srgbClr val="FFFFFF"/>
            </a:solidFill>
            <a:prstDash val="solid"/>
          </a:ln>
        </p:spPr>
      </p:sp>
      <p:sp>
        <p:nvSpPr>
          <p:cNvPr id="42" name="Text 40"/>
          <p:cNvSpPr/>
          <p:nvPr/>
        </p:nvSpPr>
        <p:spPr>
          <a:xfrm>
            <a:off x="457200" y="4553712"/>
            <a:ext cx="4114800" cy="301752"/>
          </a:xfrm>
          <a:prstGeom prst="rect">
            <a:avLst/>
          </a:prstGeom>
          <a:noFill/>
          <a:ln/>
        </p:spPr>
        <p:txBody>
          <a:bodyPr wrap="square" lIns="0" tIns="0" rIns="0" bIns="0" rtlCol="0" anchor="ctr"/>
          <a:lstStyle/>
          <a:p>
            <a:pPr indent="0" marL="0">
              <a:buNone/>
            </a:pPr>
            <a:r>
              <a:rPr lang="en-US" sz="1100" dirty="0">
                <a:solidFill>
                  <a:srgbClr val="6B8099"/>
                </a:solidFill>
                <a:latin typeface="Calibri" pitchFamily="34" charset="0"/>
                <a:ea typeface="Calibri" pitchFamily="34" charset="-122"/>
                <a:cs typeface="Calibri" pitchFamily="34" charset="-120"/>
              </a:rPr>
              <a:t>Payback period</a:t>
            </a:r>
            <a:endParaRPr lang="en-US" sz="1100" dirty="0"/>
          </a:p>
        </p:txBody>
      </p:sp>
      <p:sp>
        <p:nvSpPr>
          <p:cNvPr id="43" name="Text 41"/>
          <p:cNvSpPr/>
          <p:nvPr/>
        </p:nvSpPr>
        <p:spPr>
          <a:xfrm>
            <a:off x="4663440" y="4553712"/>
            <a:ext cx="4023360" cy="301752"/>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&lt; 1 lesson</a:t>
            </a:r>
            <a:endParaRPr lang="en-US" sz="1100" dirty="0"/>
          </a:p>
        </p:txBody>
      </p:sp>
      <p:sp>
        <p:nvSpPr>
          <p:cNvPr id="44" name="Shape 42"/>
          <p:cNvSpPr/>
          <p:nvPr/>
        </p:nvSpPr>
        <p:spPr>
          <a:xfrm>
            <a:off x="320040" y="4892040"/>
            <a:ext cx="8503920" cy="0"/>
          </a:xfrm>
          <a:prstGeom prst="line">
            <a:avLst/>
          </a:prstGeom>
          <a:noFill/>
          <a:ln w="6350">
            <a:solidFill>
              <a:srgbClr val="E0E8EE"/>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20040" y="91440"/>
            <a:ext cx="228600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08 · GO-TO-MARKET</a:t>
            </a:r>
            <a:endParaRPr lang="en-US" sz="800" dirty="0"/>
          </a:p>
        </p:txBody>
      </p:sp>
      <p:sp>
        <p:nvSpPr>
          <p:cNvPr id="4" name="Text 2"/>
          <p:cNvSpPr/>
          <p:nvPr/>
        </p:nvSpPr>
        <p:spPr>
          <a:xfrm>
            <a:off x="320040" y="292608"/>
            <a:ext cx="850392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Three channels. No paid ads in Year 1.</a:t>
            </a:r>
            <a:endParaRPr lang="en-US" sz="3000" dirty="0"/>
          </a:p>
        </p:txBody>
      </p:sp>
      <p:sp>
        <p:nvSpPr>
          <p:cNvPr id="5" name="Text 3"/>
          <p:cNvSpPr/>
          <p:nvPr/>
        </p:nvSpPr>
        <p:spPr>
          <a:xfrm>
            <a:off x="6858000" y="91440"/>
            <a:ext cx="2011680" cy="256032"/>
          </a:xfrm>
          <a:prstGeom prst="rect">
            <a:avLst/>
          </a:prstGeom>
          <a:noFill/>
          <a:ln/>
        </p:spPr>
        <p:txBody>
          <a:bodyPr wrap="square" lIns="0" tIns="0" rIns="0" bIns="0"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6" name="Shape 4"/>
          <p:cNvSpPr/>
          <p:nvPr/>
        </p:nvSpPr>
        <p:spPr>
          <a:xfrm>
            <a:off x="320040" y="1005840"/>
            <a:ext cx="8503920" cy="1188720"/>
          </a:xfrm>
          <a:prstGeom prst="roundRect">
            <a:avLst>
              <a:gd name="adj" fmla="val 6154"/>
            </a:avLst>
          </a:prstGeom>
          <a:solidFill>
            <a:srgbClr val="EBF4F6"/>
          </a:solidFill>
          <a:ln w="12700">
            <a:solidFill>
              <a:srgbClr val="EBF4F6"/>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11480" y="1097280"/>
            <a:ext cx="1005840" cy="274320"/>
          </a:xfrm>
          <a:prstGeom prst="roundRect">
            <a:avLst>
              <a:gd name="adj" fmla="val 20000"/>
            </a:avLst>
          </a:prstGeom>
          <a:solidFill>
            <a:srgbClr val="0A7585"/>
          </a:solidFill>
          <a:ln w="12700">
            <a:solidFill>
              <a:srgbClr val="0A7585"/>
            </a:solidFill>
            <a:prstDash val="solid"/>
          </a:ln>
        </p:spPr>
      </p:sp>
      <p:sp>
        <p:nvSpPr>
          <p:cNvPr id="8" name="Text 6"/>
          <p:cNvSpPr/>
          <p:nvPr/>
        </p:nvSpPr>
        <p:spPr>
          <a:xfrm>
            <a:off x="411480" y="1097280"/>
            <a:ext cx="1005840" cy="274320"/>
          </a:xfrm>
          <a:prstGeom prst="rect">
            <a:avLst/>
          </a:prstGeom>
          <a:noFill/>
          <a:ln/>
        </p:spPr>
        <p:txBody>
          <a:bodyPr wrap="square" lIns="0" tIns="0" rIns="0" bIns="0" rtlCol="0" anchor="ctr"/>
          <a:lstStyle/>
          <a:p>
            <a:pPr algn="ctr" indent="0" marL="0">
              <a:buNone/>
            </a:pPr>
            <a:r>
              <a:rPr lang="en-US" sz="850" b="1" dirty="0">
                <a:solidFill>
                  <a:srgbClr val="0B1F3A"/>
                </a:solidFill>
                <a:latin typeface="Calibri" pitchFamily="34" charset="0"/>
                <a:ea typeface="Calibri" pitchFamily="34" charset="-122"/>
                <a:cs typeface="Calibri" pitchFamily="34" charset="-120"/>
              </a:rPr>
              <a:t>Priority 1</a:t>
            </a:r>
            <a:endParaRPr lang="en-US" sz="850" dirty="0"/>
          </a:p>
        </p:txBody>
      </p:sp>
      <p:sp>
        <p:nvSpPr>
          <p:cNvPr id="9" name="Text 7"/>
          <p:cNvSpPr/>
          <p:nvPr/>
        </p:nvSpPr>
        <p:spPr>
          <a:xfrm>
            <a:off x="1508760" y="1097280"/>
            <a:ext cx="502920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Tutor Referral Loop</a:t>
            </a:r>
            <a:endParaRPr lang="en-US" sz="1400" dirty="0"/>
          </a:p>
        </p:txBody>
      </p:sp>
      <p:sp>
        <p:nvSpPr>
          <p:cNvPr id="10" name="Shape 8"/>
          <p:cNvSpPr/>
          <p:nvPr/>
        </p:nvSpPr>
        <p:spPr>
          <a:xfrm>
            <a:off x="6858000" y="1097280"/>
            <a:ext cx="1783080" cy="274320"/>
          </a:xfrm>
          <a:prstGeom prst="roundRect">
            <a:avLst>
              <a:gd name="adj" fmla="val 20000"/>
            </a:avLst>
          </a:prstGeom>
          <a:solidFill>
            <a:srgbClr val="0A7585"/>
          </a:solidFill>
          <a:ln w="12700">
            <a:solidFill>
              <a:srgbClr val="0A7585"/>
            </a:solidFill>
            <a:prstDash val="solid"/>
          </a:ln>
        </p:spPr>
      </p:sp>
      <p:sp>
        <p:nvSpPr>
          <p:cNvPr id="11" name="Text 9"/>
          <p:cNvSpPr/>
          <p:nvPr/>
        </p:nvSpPr>
        <p:spPr>
          <a:xfrm>
            <a:off x="6858000" y="1097280"/>
            <a:ext cx="1783080" cy="274320"/>
          </a:xfrm>
          <a:prstGeom prst="rect">
            <a:avLst/>
          </a:prstGeom>
          <a:noFill/>
          <a:ln/>
        </p:spPr>
        <p:txBody>
          <a:bodyPr wrap="square" lIns="0" tIns="0" rIns="0" bIns="0" rtlCol="0" anchor="ctr"/>
          <a:lstStyle/>
          <a:p>
            <a:pPr algn="ctr" indent="0" marL="0">
              <a:buNone/>
            </a:pPr>
            <a:r>
              <a:rPr lang="en-US" sz="850" b="1" dirty="0">
                <a:solidFill>
                  <a:srgbClr val="0B1F3A"/>
                </a:solidFill>
                <a:latin typeface="Calibri" pitchFamily="34" charset="0"/>
                <a:ea typeface="Calibri" pitchFamily="34" charset="-122"/>
                <a:cs typeface="Calibri" pitchFamily="34" charset="-120"/>
              </a:rPr>
              <a:t>CAC: GEL 1.32 CAC</a:t>
            </a:r>
            <a:endParaRPr lang="en-US" sz="850" dirty="0"/>
          </a:p>
        </p:txBody>
      </p:sp>
      <p:sp>
        <p:nvSpPr>
          <p:cNvPr id="12" name="Text 10"/>
          <p:cNvSpPr/>
          <p:nvPr/>
        </p:nvSpPr>
        <p:spPr>
          <a:xfrm>
            <a:off x="502920" y="1463040"/>
            <a:ext cx="8229600" cy="32004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Tutors refer students from existing WhatsApp networks. Tutor earns a lesson credit per referred student who books.</a:t>
            </a:r>
            <a:endParaRPr lang="en-US" sz="1050" dirty="0"/>
          </a:p>
        </p:txBody>
      </p:sp>
      <p:sp>
        <p:nvSpPr>
          <p:cNvPr id="13" name="Text 11"/>
          <p:cNvSpPr/>
          <p:nvPr/>
        </p:nvSpPr>
        <p:spPr>
          <a:xfrm>
            <a:off x="502920" y="1828800"/>
            <a:ext cx="8229600" cy="256032"/>
          </a:xfrm>
          <a:prstGeom prst="rect">
            <a:avLst/>
          </a:prstGeom>
          <a:noFill/>
          <a:ln/>
        </p:spPr>
        <p:txBody>
          <a:bodyPr wrap="square" lIns="0" tIns="0" rIns="0" bIns="0" rtlCol="0" anchor="ctr"/>
          <a:lstStyle/>
          <a:p>
            <a:pPr indent="0" marL="0">
              <a:buNone/>
            </a:pPr>
            <a:r>
              <a:rPr lang="en-US" sz="950" i="1" dirty="0">
                <a:solidFill>
                  <a:srgbClr val="0A7585"/>
                </a:solidFill>
                <a:latin typeface="Calibri" pitchFamily="34" charset="0"/>
                <a:ea typeface="Calibri" pitchFamily="34" charset="-122"/>
                <a:cs typeface="Calibri" pitchFamily="34" charset="-120"/>
              </a:rPr>
              <a:t>Activation metric: 10 tutor referrals within 30 days of launch</a:t>
            </a:r>
            <a:endParaRPr lang="en-US" sz="950" dirty="0"/>
          </a:p>
        </p:txBody>
      </p:sp>
      <p:sp>
        <p:nvSpPr>
          <p:cNvPr id="14" name="Shape 12"/>
          <p:cNvSpPr/>
          <p:nvPr/>
        </p:nvSpPr>
        <p:spPr>
          <a:xfrm>
            <a:off x="320040" y="2322576"/>
            <a:ext cx="8503920" cy="1188720"/>
          </a:xfrm>
          <a:prstGeom prst="roundRect">
            <a:avLst>
              <a:gd name="adj" fmla="val 6154"/>
            </a:avLst>
          </a:prstGeom>
          <a:solidFill>
            <a:srgbClr val="FFF8E8"/>
          </a:solidFill>
          <a:ln w="12700">
            <a:solidFill>
              <a:srgbClr val="FFF8E8"/>
            </a:solidFill>
            <a:prstDash val="solid"/>
          </a:ln>
          <a:effectLst>
            <a:outerShdw sx="100000" sy="100000" kx="0" ky="0" algn="bl" rotWithShape="0" blurRad="101600" dist="38100" dir="2700000">
              <a:srgbClr val="000000">
                <a:alpha val="12000"/>
              </a:srgbClr>
            </a:outerShdw>
          </a:effectLst>
        </p:spPr>
      </p:sp>
      <p:sp>
        <p:nvSpPr>
          <p:cNvPr id="15" name="Shape 13"/>
          <p:cNvSpPr/>
          <p:nvPr/>
        </p:nvSpPr>
        <p:spPr>
          <a:xfrm>
            <a:off x="411480" y="2414016"/>
            <a:ext cx="1005840" cy="274320"/>
          </a:xfrm>
          <a:prstGeom prst="roundRect">
            <a:avLst>
              <a:gd name="adj" fmla="val 20000"/>
            </a:avLst>
          </a:prstGeom>
          <a:solidFill>
            <a:srgbClr val="E8A020"/>
          </a:solidFill>
          <a:ln w="12700">
            <a:solidFill>
              <a:srgbClr val="E8A020"/>
            </a:solidFill>
            <a:prstDash val="solid"/>
          </a:ln>
        </p:spPr>
      </p:sp>
      <p:sp>
        <p:nvSpPr>
          <p:cNvPr id="16" name="Text 14"/>
          <p:cNvSpPr/>
          <p:nvPr/>
        </p:nvSpPr>
        <p:spPr>
          <a:xfrm>
            <a:off x="411480" y="2414016"/>
            <a:ext cx="1005840" cy="274320"/>
          </a:xfrm>
          <a:prstGeom prst="rect">
            <a:avLst/>
          </a:prstGeom>
          <a:noFill/>
          <a:ln/>
        </p:spPr>
        <p:txBody>
          <a:bodyPr wrap="square" lIns="0" tIns="0" rIns="0" bIns="0" rtlCol="0" anchor="ctr"/>
          <a:lstStyle/>
          <a:p>
            <a:pPr algn="ctr" indent="0" marL="0">
              <a:buNone/>
            </a:pPr>
            <a:r>
              <a:rPr lang="en-US" sz="850" b="1" dirty="0">
                <a:solidFill>
                  <a:srgbClr val="0B1F3A"/>
                </a:solidFill>
                <a:latin typeface="Calibri" pitchFamily="34" charset="0"/>
                <a:ea typeface="Calibri" pitchFamily="34" charset="-122"/>
                <a:cs typeface="Calibri" pitchFamily="34" charset="-120"/>
              </a:rPr>
              <a:t>Priority 2</a:t>
            </a:r>
            <a:endParaRPr lang="en-US" sz="850" dirty="0"/>
          </a:p>
        </p:txBody>
      </p:sp>
      <p:sp>
        <p:nvSpPr>
          <p:cNvPr id="17" name="Text 15"/>
          <p:cNvSpPr/>
          <p:nvPr/>
        </p:nvSpPr>
        <p:spPr>
          <a:xfrm>
            <a:off x="1508760" y="2414016"/>
            <a:ext cx="502920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Telegram Exam Communities</a:t>
            </a:r>
            <a:endParaRPr lang="en-US" sz="1400" dirty="0"/>
          </a:p>
        </p:txBody>
      </p:sp>
      <p:sp>
        <p:nvSpPr>
          <p:cNvPr id="18" name="Shape 16"/>
          <p:cNvSpPr/>
          <p:nvPr/>
        </p:nvSpPr>
        <p:spPr>
          <a:xfrm>
            <a:off x="6858000" y="2414016"/>
            <a:ext cx="1783080" cy="274320"/>
          </a:xfrm>
          <a:prstGeom prst="roundRect">
            <a:avLst>
              <a:gd name="adj" fmla="val 20000"/>
            </a:avLst>
          </a:prstGeom>
          <a:solidFill>
            <a:srgbClr val="E8A020"/>
          </a:solidFill>
          <a:ln w="12700">
            <a:solidFill>
              <a:srgbClr val="E8A020"/>
            </a:solidFill>
            <a:prstDash val="solid"/>
          </a:ln>
        </p:spPr>
      </p:sp>
      <p:sp>
        <p:nvSpPr>
          <p:cNvPr id="19" name="Text 17"/>
          <p:cNvSpPr/>
          <p:nvPr/>
        </p:nvSpPr>
        <p:spPr>
          <a:xfrm>
            <a:off x="6858000" y="2414016"/>
            <a:ext cx="1783080" cy="274320"/>
          </a:xfrm>
          <a:prstGeom prst="rect">
            <a:avLst/>
          </a:prstGeom>
          <a:noFill/>
          <a:ln/>
        </p:spPr>
        <p:txBody>
          <a:bodyPr wrap="square" lIns="0" tIns="0" rIns="0" bIns="0" rtlCol="0" anchor="ctr"/>
          <a:lstStyle/>
          <a:p>
            <a:pPr algn="ctr" indent="0" marL="0">
              <a:buNone/>
            </a:pPr>
            <a:r>
              <a:rPr lang="en-US" sz="850" b="1" dirty="0">
                <a:solidFill>
                  <a:srgbClr val="0B1F3A"/>
                </a:solidFill>
                <a:latin typeface="Calibri" pitchFamily="34" charset="0"/>
                <a:ea typeface="Calibri" pitchFamily="34" charset="-122"/>
                <a:cs typeface="Calibri" pitchFamily="34" charset="-120"/>
              </a:rPr>
              <a:t>CAC: GEL 8 CAC</a:t>
            </a:r>
            <a:endParaRPr lang="en-US" sz="850" dirty="0"/>
          </a:p>
        </p:txBody>
      </p:sp>
      <p:sp>
        <p:nvSpPr>
          <p:cNvPr id="20" name="Text 18"/>
          <p:cNvSpPr/>
          <p:nvPr/>
        </p:nvSpPr>
        <p:spPr>
          <a:xfrm>
            <a:off x="502920" y="2779776"/>
            <a:ext cx="8229600" cy="32004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Moderator partnerships in top Georgian exam-prep Telegram groups (5,000–20,000 members). Weekly 'top tutors' posts.</a:t>
            </a:r>
            <a:endParaRPr lang="en-US" sz="1050" dirty="0"/>
          </a:p>
        </p:txBody>
      </p:sp>
      <p:sp>
        <p:nvSpPr>
          <p:cNvPr id="21" name="Text 19"/>
          <p:cNvSpPr/>
          <p:nvPr/>
        </p:nvSpPr>
        <p:spPr>
          <a:xfrm>
            <a:off x="502920" y="3145536"/>
            <a:ext cx="8229600" cy="256032"/>
          </a:xfrm>
          <a:prstGeom prst="rect">
            <a:avLst/>
          </a:prstGeom>
          <a:noFill/>
          <a:ln/>
        </p:spPr>
        <p:txBody>
          <a:bodyPr wrap="square" lIns="0" tIns="0" rIns="0" bIns="0" rtlCol="0" anchor="ctr"/>
          <a:lstStyle/>
          <a:p>
            <a:pPr indent="0" marL="0">
              <a:buNone/>
            </a:pPr>
            <a:r>
              <a:rPr lang="en-US" sz="950" i="1" dirty="0">
                <a:solidFill>
                  <a:srgbClr val="E8A020"/>
                </a:solidFill>
                <a:latin typeface="Calibri" pitchFamily="34" charset="0"/>
                <a:ea typeface="Calibri" pitchFamily="34" charset="-122"/>
                <a:cs typeface="Calibri" pitchFamily="34" charset="-120"/>
              </a:rPr>
              <a:t>Activation metric: 50 link clicks per post within 48 hours</a:t>
            </a:r>
            <a:endParaRPr lang="en-US" sz="950" dirty="0"/>
          </a:p>
        </p:txBody>
      </p:sp>
      <p:sp>
        <p:nvSpPr>
          <p:cNvPr id="22" name="Shape 20"/>
          <p:cNvSpPr/>
          <p:nvPr/>
        </p:nvSpPr>
        <p:spPr>
          <a:xfrm>
            <a:off x="320040" y="3639312"/>
            <a:ext cx="8503920" cy="1188720"/>
          </a:xfrm>
          <a:prstGeom prst="roundRect">
            <a:avLst>
              <a:gd name="adj" fmla="val 6154"/>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23" name="Shape 21"/>
          <p:cNvSpPr/>
          <p:nvPr/>
        </p:nvSpPr>
        <p:spPr>
          <a:xfrm>
            <a:off x="411480" y="3730752"/>
            <a:ext cx="1005840" cy="274320"/>
          </a:xfrm>
          <a:prstGeom prst="roundRect">
            <a:avLst>
              <a:gd name="adj" fmla="val 20000"/>
            </a:avLst>
          </a:prstGeom>
          <a:solidFill>
            <a:srgbClr val="6B8099"/>
          </a:solidFill>
          <a:ln w="12700">
            <a:solidFill>
              <a:srgbClr val="6B8099"/>
            </a:solidFill>
            <a:prstDash val="solid"/>
          </a:ln>
        </p:spPr>
      </p:sp>
      <p:sp>
        <p:nvSpPr>
          <p:cNvPr id="24" name="Text 22"/>
          <p:cNvSpPr/>
          <p:nvPr/>
        </p:nvSpPr>
        <p:spPr>
          <a:xfrm>
            <a:off x="411480" y="3730752"/>
            <a:ext cx="100584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Priority 3</a:t>
            </a:r>
            <a:endParaRPr lang="en-US" sz="850" dirty="0"/>
          </a:p>
        </p:txBody>
      </p:sp>
      <p:sp>
        <p:nvSpPr>
          <p:cNvPr id="25" name="Text 23"/>
          <p:cNvSpPr/>
          <p:nvPr/>
        </p:nvSpPr>
        <p:spPr>
          <a:xfrm>
            <a:off x="1508760" y="3730752"/>
            <a:ext cx="502920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Instagram / TikTok Content</a:t>
            </a:r>
            <a:endParaRPr lang="en-US" sz="1400" dirty="0"/>
          </a:p>
        </p:txBody>
      </p:sp>
      <p:sp>
        <p:nvSpPr>
          <p:cNvPr id="26" name="Shape 24"/>
          <p:cNvSpPr/>
          <p:nvPr/>
        </p:nvSpPr>
        <p:spPr>
          <a:xfrm>
            <a:off x="6858000" y="3730752"/>
            <a:ext cx="1783080" cy="274320"/>
          </a:xfrm>
          <a:prstGeom prst="roundRect">
            <a:avLst>
              <a:gd name="adj" fmla="val 20000"/>
            </a:avLst>
          </a:prstGeom>
          <a:solidFill>
            <a:srgbClr val="E8EEF2"/>
          </a:solidFill>
          <a:ln w="12700">
            <a:solidFill>
              <a:srgbClr val="E8EEF2"/>
            </a:solidFill>
            <a:prstDash val="solid"/>
          </a:ln>
        </p:spPr>
      </p:sp>
      <p:sp>
        <p:nvSpPr>
          <p:cNvPr id="27" name="Text 25"/>
          <p:cNvSpPr/>
          <p:nvPr/>
        </p:nvSpPr>
        <p:spPr>
          <a:xfrm>
            <a:off x="6858000" y="3730752"/>
            <a:ext cx="1783080" cy="274320"/>
          </a:xfrm>
          <a:prstGeom prst="rect">
            <a:avLst/>
          </a:prstGeom>
          <a:noFill/>
          <a:ln/>
        </p:spPr>
        <p:txBody>
          <a:bodyPr wrap="square" lIns="0" tIns="0" rIns="0" bIns="0" rtlCol="0" anchor="ctr"/>
          <a:lstStyle/>
          <a:p>
            <a:pPr algn="ctr" indent="0" marL="0">
              <a:buNone/>
            </a:pPr>
            <a:r>
              <a:rPr lang="en-US" sz="850" b="1" dirty="0">
                <a:solidFill>
                  <a:srgbClr val="6B8099"/>
                </a:solidFill>
                <a:latin typeface="Calibri" pitchFamily="34" charset="0"/>
                <a:ea typeface="Calibri" pitchFamily="34" charset="-122"/>
                <a:cs typeface="Calibri" pitchFamily="34" charset="-120"/>
              </a:rPr>
              <a:t>CAC: Organic</a:t>
            </a:r>
            <a:endParaRPr lang="en-US" sz="850" dirty="0"/>
          </a:p>
        </p:txBody>
      </p:sp>
      <p:sp>
        <p:nvSpPr>
          <p:cNvPr id="28" name="Text 26"/>
          <p:cNvSpPr/>
          <p:nvPr/>
        </p:nvSpPr>
        <p:spPr>
          <a:xfrm>
            <a:off x="502920" y="4096512"/>
            <a:ext cx="8229600" cy="32004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Student-generated short-form: 'how I found my exam tutor in 2 minutes'. Tutor-amplified. No production budget.</a:t>
            </a:r>
            <a:endParaRPr lang="en-US" sz="1050" dirty="0"/>
          </a:p>
        </p:txBody>
      </p:sp>
      <p:sp>
        <p:nvSpPr>
          <p:cNvPr id="29" name="Text 27"/>
          <p:cNvSpPr/>
          <p:nvPr/>
        </p:nvSpPr>
        <p:spPr>
          <a:xfrm>
            <a:off x="502920" y="4462272"/>
            <a:ext cx="8229600" cy="256032"/>
          </a:xfrm>
          <a:prstGeom prst="rect">
            <a:avLst/>
          </a:prstGeom>
          <a:noFill/>
          <a:ln/>
        </p:spPr>
        <p:txBody>
          <a:bodyPr wrap="square" lIns="0" tIns="0" rIns="0" bIns="0" rtlCol="0" anchor="ctr"/>
          <a:lstStyle/>
          <a:p>
            <a:pPr indent="0" marL="0">
              <a:buNone/>
            </a:pPr>
            <a:r>
              <a:rPr lang="en-US" sz="950" i="1" dirty="0">
                <a:solidFill>
                  <a:srgbClr val="6B8099"/>
                </a:solidFill>
                <a:latin typeface="Calibri" pitchFamily="34" charset="0"/>
                <a:ea typeface="Calibri" pitchFamily="34" charset="-122"/>
                <a:cs typeface="Calibri" pitchFamily="34" charset="-120"/>
              </a:rPr>
              <a:t>Activation metric: 1,000 profile visits/week by week 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F3A"/>
          </a:solidFill>
          <a:ln w="12700">
            <a:solidFill>
              <a:srgbClr val="0B1F3A"/>
            </a:solidFill>
            <a:prstDash val="solid"/>
          </a:ln>
        </p:spPr>
      </p:sp>
      <p:sp>
        <p:nvSpPr>
          <p:cNvPr id="3" name="Text 1"/>
          <p:cNvSpPr/>
          <p:nvPr/>
        </p:nvSpPr>
        <p:spPr>
          <a:xfrm>
            <a:off x="320040" y="91440"/>
            <a:ext cx="228600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09 · COMPETITION</a:t>
            </a:r>
            <a:endParaRPr lang="en-US" sz="800" dirty="0"/>
          </a:p>
        </p:txBody>
      </p:sp>
      <p:sp>
        <p:nvSpPr>
          <p:cNvPr id="4" name="Text 2"/>
          <p:cNvSpPr/>
          <p:nvPr/>
        </p:nvSpPr>
        <p:spPr>
          <a:xfrm>
            <a:off x="320040" y="292608"/>
            <a:ext cx="850392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Named competitors. Named moat.</a:t>
            </a:r>
            <a:endParaRPr lang="en-US" sz="3000" dirty="0"/>
          </a:p>
        </p:txBody>
      </p:sp>
      <p:sp>
        <p:nvSpPr>
          <p:cNvPr id="5" name="Text 3"/>
          <p:cNvSpPr/>
          <p:nvPr/>
        </p:nvSpPr>
        <p:spPr>
          <a:xfrm>
            <a:off x="6858000" y="91440"/>
            <a:ext cx="2011680" cy="256032"/>
          </a:xfrm>
          <a:prstGeom prst="rect">
            <a:avLst/>
          </a:prstGeom>
          <a:noFill/>
          <a:ln/>
        </p:spPr>
        <p:txBody>
          <a:bodyPr wrap="square" lIns="0" tIns="0" rIns="0" bIns="0"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6" name="Shape 4"/>
          <p:cNvSpPr/>
          <p:nvPr/>
        </p:nvSpPr>
        <p:spPr>
          <a:xfrm>
            <a:off x="320040" y="1005840"/>
            <a:ext cx="8686800" cy="347472"/>
          </a:xfrm>
          <a:prstGeom prst="rect">
            <a:avLst/>
          </a:prstGeom>
          <a:solidFill>
            <a:srgbClr val="0B1F3A"/>
          </a:solidFill>
          <a:ln w="12700">
            <a:solidFill>
              <a:srgbClr val="0B1F3A"/>
            </a:solidFill>
            <a:prstDash val="solid"/>
          </a:ln>
        </p:spPr>
      </p:sp>
      <p:sp>
        <p:nvSpPr>
          <p:cNvPr id="7" name="Text 5"/>
          <p:cNvSpPr/>
          <p:nvPr/>
        </p:nvSpPr>
        <p:spPr>
          <a:xfrm>
            <a:off x="320040" y="1005840"/>
            <a:ext cx="2286000" cy="347472"/>
          </a:xfrm>
          <a:prstGeom prst="rect">
            <a:avLst/>
          </a:prstGeom>
          <a:noFill/>
          <a:ln/>
        </p:spPr>
        <p:txBody>
          <a:bodyPr wrap="square" lIns="0" tIns="0" rIns="0" bIns="0" rtlCol="0" anchor="ctr"/>
          <a:lstStyle/>
          <a:p>
            <a:pPr algn="ctr" indent="0" marL="0">
              <a:buNone/>
            </a:pPr>
            <a:endParaRPr lang="en-US" sz="900" dirty="0"/>
          </a:p>
        </p:txBody>
      </p:sp>
      <p:sp>
        <p:nvSpPr>
          <p:cNvPr id="8" name="Text 6"/>
          <p:cNvSpPr/>
          <p:nvPr/>
        </p:nvSpPr>
        <p:spPr>
          <a:xfrm>
            <a:off x="2606040" y="1005840"/>
            <a:ext cx="1234440" cy="347472"/>
          </a:xfrm>
          <a:prstGeom prst="rect">
            <a:avLst/>
          </a:prstGeom>
          <a:noFill/>
          <a:ln/>
        </p:spPr>
        <p:txBody>
          <a:bodyPr wrap="square" lIns="0" tIns="0" rIns="0" bIns="0" rtlCol="0" anchor="ctr"/>
          <a:lstStyle/>
          <a:p>
            <a:pPr algn="ctr" indent="0" marL="0">
              <a:buNone/>
            </a:pPr>
            <a:r>
              <a:rPr lang="en-US" sz="1000" b="1" dirty="0">
                <a:solidFill>
                  <a:srgbClr val="E8A020"/>
                </a:solidFill>
                <a:latin typeface="Calibri" pitchFamily="34" charset="0"/>
                <a:ea typeface="Calibri" pitchFamily="34" charset="-122"/>
                <a:cs typeface="Calibri" pitchFamily="34" charset="-120"/>
              </a:rPr>
              <a:t>TutorLink</a:t>
            </a:r>
            <a:endParaRPr lang="en-US" sz="1000" dirty="0"/>
          </a:p>
        </p:txBody>
      </p:sp>
      <p:sp>
        <p:nvSpPr>
          <p:cNvPr id="9" name="Text 7"/>
          <p:cNvSpPr/>
          <p:nvPr/>
        </p:nvSpPr>
        <p:spPr>
          <a:xfrm>
            <a:off x="3840480" y="1005840"/>
            <a:ext cx="1005840" cy="347472"/>
          </a:xfrm>
          <a:prstGeom prst="rect">
            <a:avLst/>
          </a:prstGeom>
          <a:noFill/>
          <a:ln/>
        </p:spPr>
        <p:txBody>
          <a:bodyPr wrap="square" lIns="0" tIns="0" rIns="0" bIns="0" rtlCol="0" anchor="ctr"/>
          <a:lstStyle/>
          <a:p>
            <a:pPr algn="ctr" indent="0" marL="0">
              <a:buNone/>
            </a:pPr>
            <a:r>
              <a:rPr lang="en-US" sz="900" b="1" dirty="0">
                <a:solidFill>
                  <a:srgbClr val="9BB8CC"/>
                </a:solidFill>
                <a:latin typeface="Calibri" pitchFamily="34" charset="0"/>
                <a:ea typeface="Calibri" pitchFamily="34" charset="-122"/>
                <a:cs typeface="Calibri" pitchFamily="34" charset="-120"/>
              </a:rPr>
              <a:t>Preply</a:t>
            </a:r>
            <a:endParaRPr lang="en-US" sz="900" dirty="0"/>
          </a:p>
        </p:txBody>
      </p:sp>
      <p:sp>
        <p:nvSpPr>
          <p:cNvPr id="10" name="Text 8"/>
          <p:cNvSpPr/>
          <p:nvPr/>
        </p:nvSpPr>
        <p:spPr>
          <a:xfrm>
            <a:off x="4846320" y="1005840"/>
            <a:ext cx="1005840" cy="347472"/>
          </a:xfrm>
          <a:prstGeom prst="rect">
            <a:avLst/>
          </a:prstGeom>
          <a:noFill/>
          <a:ln/>
        </p:spPr>
        <p:txBody>
          <a:bodyPr wrap="square" lIns="0" tIns="0" rIns="0" bIns="0" rtlCol="0" anchor="ctr"/>
          <a:lstStyle/>
          <a:p>
            <a:pPr algn="ctr" indent="0" marL="0">
              <a:buNone/>
            </a:pPr>
            <a:r>
              <a:rPr lang="en-US" sz="900" b="1" dirty="0">
                <a:solidFill>
                  <a:srgbClr val="9BB8CC"/>
                </a:solidFill>
                <a:latin typeface="Calibri" pitchFamily="34" charset="0"/>
                <a:ea typeface="Calibri" pitchFamily="34" charset="-122"/>
                <a:cs typeface="Calibri" pitchFamily="34" charset="-120"/>
              </a:rPr>
              <a:t>iTalki</a:t>
            </a:r>
            <a:endParaRPr lang="en-US" sz="900" dirty="0"/>
          </a:p>
        </p:txBody>
      </p:sp>
      <p:sp>
        <p:nvSpPr>
          <p:cNvPr id="11" name="Text 9"/>
          <p:cNvSpPr/>
          <p:nvPr/>
        </p:nvSpPr>
        <p:spPr>
          <a:xfrm>
            <a:off x="5852160" y="1005840"/>
            <a:ext cx="1051560" cy="347472"/>
          </a:xfrm>
          <a:prstGeom prst="rect">
            <a:avLst/>
          </a:prstGeom>
          <a:noFill/>
          <a:ln/>
        </p:spPr>
        <p:txBody>
          <a:bodyPr wrap="square" lIns="0" tIns="0" rIns="0" bIns="0" rtlCol="0" anchor="ctr"/>
          <a:lstStyle/>
          <a:p>
            <a:pPr algn="ctr" indent="0" marL="0">
              <a:buNone/>
            </a:pPr>
            <a:r>
              <a:rPr lang="en-US" sz="900" b="1" dirty="0">
                <a:solidFill>
                  <a:srgbClr val="9BB8CC"/>
                </a:solidFill>
                <a:latin typeface="Calibri" pitchFamily="34" charset="0"/>
                <a:ea typeface="Calibri" pitchFamily="34" charset="-122"/>
                <a:cs typeface="Calibri" pitchFamily="34" charset="-120"/>
              </a:rPr>
              <a:t>Tutorful</a:t>
            </a:r>
            <a:endParaRPr lang="en-US" sz="900" dirty="0"/>
          </a:p>
        </p:txBody>
      </p:sp>
      <p:sp>
        <p:nvSpPr>
          <p:cNvPr id="12" name="Text 10"/>
          <p:cNvSpPr/>
          <p:nvPr/>
        </p:nvSpPr>
        <p:spPr>
          <a:xfrm>
            <a:off x="6903720" y="1005840"/>
            <a:ext cx="1143000" cy="347472"/>
          </a:xfrm>
          <a:prstGeom prst="rect">
            <a:avLst/>
          </a:prstGeom>
          <a:noFill/>
          <a:ln/>
        </p:spPr>
        <p:txBody>
          <a:bodyPr wrap="square" lIns="0" tIns="0" rIns="0" bIns="0" rtlCol="0" anchor="ctr"/>
          <a:lstStyle/>
          <a:p>
            <a:pPr algn="ctr" indent="0" marL="0">
              <a:buNone/>
            </a:pPr>
            <a:r>
              <a:rPr lang="en-US" sz="900" b="1" dirty="0">
                <a:solidFill>
                  <a:srgbClr val="9BB8CC"/>
                </a:solidFill>
                <a:latin typeface="Calibri" pitchFamily="34" charset="0"/>
                <a:ea typeface="Calibri" pitchFamily="34" charset="-122"/>
                <a:cs typeface="Calibri" pitchFamily="34" charset="-120"/>
              </a:rPr>
              <a:t>WhatsApp</a:t>
            </a:r>
            <a:endParaRPr lang="en-US" sz="900" dirty="0"/>
          </a:p>
        </p:txBody>
      </p:sp>
      <p:sp>
        <p:nvSpPr>
          <p:cNvPr id="13" name="Shape 11"/>
          <p:cNvSpPr/>
          <p:nvPr/>
        </p:nvSpPr>
        <p:spPr>
          <a:xfrm>
            <a:off x="320040" y="1353312"/>
            <a:ext cx="8686800" cy="411480"/>
          </a:xfrm>
          <a:prstGeom prst="rect">
            <a:avLst/>
          </a:prstGeom>
          <a:solidFill>
            <a:srgbClr val="FFFFFF"/>
          </a:solidFill>
          <a:ln w="12700">
            <a:solidFill>
              <a:srgbClr val="FFFFFF"/>
            </a:solidFill>
            <a:prstDash val="solid"/>
          </a:ln>
        </p:spPr>
      </p:sp>
      <p:sp>
        <p:nvSpPr>
          <p:cNvPr id="14" name="Text 12"/>
          <p:cNvSpPr/>
          <p:nvPr/>
        </p:nvSpPr>
        <p:spPr>
          <a:xfrm>
            <a:off x="429768" y="1353312"/>
            <a:ext cx="2176272" cy="41148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Georgian UI</a:t>
            </a:r>
            <a:endParaRPr lang="en-US" sz="1050" dirty="0"/>
          </a:p>
        </p:txBody>
      </p:sp>
      <p:sp>
        <p:nvSpPr>
          <p:cNvPr id="15" name="Text 13"/>
          <p:cNvSpPr/>
          <p:nvPr/>
        </p:nvSpPr>
        <p:spPr>
          <a:xfrm>
            <a:off x="2606040" y="1353312"/>
            <a:ext cx="1234440" cy="411480"/>
          </a:xfrm>
          <a:prstGeom prst="rect">
            <a:avLst/>
          </a:prstGeom>
          <a:noFill/>
          <a:ln/>
        </p:spPr>
        <p:txBody>
          <a:bodyPr wrap="square" lIns="0" tIns="0" rIns="0" bIns="0" rtlCol="0" anchor="ctr"/>
          <a:lstStyle/>
          <a:p>
            <a:pPr algn="ctr" indent="0" marL="0">
              <a:buNone/>
            </a:pPr>
            <a:r>
              <a:rPr lang="en-US" sz="1300" b="1" dirty="0">
                <a:solidFill>
                  <a:srgbClr val="0A7585"/>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3840480" y="1353312"/>
            <a:ext cx="100584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4846320" y="1353312"/>
            <a:ext cx="100584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5852160" y="1353312"/>
            <a:ext cx="105156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6903720" y="1353312"/>
            <a:ext cx="1143000" cy="411480"/>
          </a:xfrm>
          <a:prstGeom prst="rect">
            <a:avLst/>
          </a:prstGeom>
          <a:noFill/>
          <a:ln/>
        </p:spPr>
        <p:txBody>
          <a:bodyPr wrap="square" lIns="0" tIns="0" rIns="0" bIns="0" rtlCol="0" anchor="ctr"/>
          <a:lstStyle/>
          <a:p>
            <a:pPr algn="ctr" indent="0" marL="0">
              <a:buNone/>
            </a:pPr>
            <a:r>
              <a:rPr lang="en-US" sz="1300" b="1" dirty="0">
                <a:solidFill>
                  <a:srgbClr val="1A8A5A"/>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320040" y="1764792"/>
            <a:ext cx="8686800" cy="0"/>
          </a:xfrm>
          <a:prstGeom prst="line">
            <a:avLst/>
          </a:prstGeom>
          <a:noFill/>
          <a:ln w="6350">
            <a:solidFill>
              <a:srgbClr val="E0E8EE"/>
            </a:solidFill>
            <a:prstDash val="solid"/>
          </a:ln>
        </p:spPr>
      </p:sp>
      <p:sp>
        <p:nvSpPr>
          <p:cNvPr id="21" name="Shape 19"/>
          <p:cNvSpPr/>
          <p:nvPr/>
        </p:nvSpPr>
        <p:spPr>
          <a:xfrm>
            <a:off x="320040" y="1764792"/>
            <a:ext cx="8686800" cy="411480"/>
          </a:xfrm>
          <a:prstGeom prst="rect">
            <a:avLst/>
          </a:prstGeom>
          <a:solidFill>
            <a:srgbClr val="F7FAFB"/>
          </a:solidFill>
          <a:ln w="12700">
            <a:solidFill>
              <a:srgbClr val="F7FAFB"/>
            </a:solidFill>
            <a:prstDash val="solid"/>
          </a:ln>
        </p:spPr>
      </p:sp>
      <p:sp>
        <p:nvSpPr>
          <p:cNvPr id="22" name="Text 20"/>
          <p:cNvSpPr/>
          <p:nvPr/>
        </p:nvSpPr>
        <p:spPr>
          <a:xfrm>
            <a:off x="429768" y="1764792"/>
            <a:ext cx="2176272" cy="41148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Exam syllabus align</a:t>
            </a:r>
            <a:endParaRPr lang="en-US" sz="1050" dirty="0"/>
          </a:p>
        </p:txBody>
      </p:sp>
      <p:sp>
        <p:nvSpPr>
          <p:cNvPr id="23" name="Text 21"/>
          <p:cNvSpPr/>
          <p:nvPr/>
        </p:nvSpPr>
        <p:spPr>
          <a:xfrm>
            <a:off x="2606040" y="1764792"/>
            <a:ext cx="1234440" cy="411480"/>
          </a:xfrm>
          <a:prstGeom prst="rect">
            <a:avLst/>
          </a:prstGeom>
          <a:noFill/>
          <a:ln/>
        </p:spPr>
        <p:txBody>
          <a:bodyPr wrap="square" lIns="0" tIns="0" rIns="0" bIns="0" rtlCol="0" anchor="ctr"/>
          <a:lstStyle/>
          <a:p>
            <a:pPr algn="ctr" indent="0" marL="0">
              <a:buNone/>
            </a:pPr>
            <a:r>
              <a:rPr lang="en-US" sz="1300" b="1" dirty="0">
                <a:solidFill>
                  <a:srgbClr val="0A7585"/>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3840480" y="1764792"/>
            <a:ext cx="100584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4846320" y="1764792"/>
            <a:ext cx="100584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5852160" y="1764792"/>
            <a:ext cx="105156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6903720" y="1764792"/>
            <a:ext cx="114300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320040" y="2176272"/>
            <a:ext cx="8686800" cy="0"/>
          </a:xfrm>
          <a:prstGeom prst="line">
            <a:avLst/>
          </a:prstGeom>
          <a:noFill/>
          <a:ln w="6350">
            <a:solidFill>
              <a:srgbClr val="E0E8EE"/>
            </a:solidFill>
            <a:prstDash val="solid"/>
          </a:ln>
        </p:spPr>
      </p:sp>
      <p:sp>
        <p:nvSpPr>
          <p:cNvPr id="29" name="Shape 27"/>
          <p:cNvSpPr/>
          <p:nvPr/>
        </p:nvSpPr>
        <p:spPr>
          <a:xfrm>
            <a:off x="320040" y="2176272"/>
            <a:ext cx="8686800" cy="411480"/>
          </a:xfrm>
          <a:prstGeom prst="rect">
            <a:avLst/>
          </a:prstGeom>
          <a:solidFill>
            <a:srgbClr val="FFFFFF"/>
          </a:solidFill>
          <a:ln w="12700">
            <a:solidFill>
              <a:srgbClr val="FFFFFF"/>
            </a:solidFill>
            <a:prstDash val="solid"/>
          </a:ln>
        </p:spPr>
      </p:sp>
      <p:sp>
        <p:nvSpPr>
          <p:cNvPr id="30" name="Text 28"/>
          <p:cNvSpPr/>
          <p:nvPr/>
        </p:nvSpPr>
        <p:spPr>
          <a:xfrm>
            <a:off x="429768" y="2176272"/>
            <a:ext cx="2176272" cy="41148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Integrated video</a:t>
            </a:r>
            <a:endParaRPr lang="en-US" sz="1050" dirty="0"/>
          </a:p>
        </p:txBody>
      </p:sp>
      <p:sp>
        <p:nvSpPr>
          <p:cNvPr id="31" name="Text 29"/>
          <p:cNvSpPr/>
          <p:nvPr/>
        </p:nvSpPr>
        <p:spPr>
          <a:xfrm>
            <a:off x="2606040" y="2176272"/>
            <a:ext cx="1234440" cy="411480"/>
          </a:xfrm>
          <a:prstGeom prst="rect">
            <a:avLst/>
          </a:prstGeom>
          <a:noFill/>
          <a:ln/>
        </p:spPr>
        <p:txBody>
          <a:bodyPr wrap="square" lIns="0" tIns="0" rIns="0" bIns="0" rtlCol="0" anchor="ctr"/>
          <a:lstStyle/>
          <a:p>
            <a:pPr algn="ctr" indent="0" marL="0">
              <a:buNone/>
            </a:pPr>
            <a:r>
              <a:rPr lang="en-US" sz="1300" b="1" dirty="0">
                <a:solidFill>
                  <a:srgbClr val="0A7585"/>
                </a:solidFill>
                <a:latin typeface="Calibri" pitchFamily="34" charset="0"/>
                <a:ea typeface="Calibri" pitchFamily="34" charset="-122"/>
                <a:cs typeface="Calibri" pitchFamily="34" charset="-120"/>
              </a:rPr>
              <a:t>✓</a:t>
            </a:r>
            <a:endParaRPr lang="en-US" sz="1300" dirty="0"/>
          </a:p>
        </p:txBody>
      </p:sp>
      <p:sp>
        <p:nvSpPr>
          <p:cNvPr id="32" name="Text 30"/>
          <p:cNvSpPr/>
          <p:nvPr/>
        </p:nvSpPr>
        <p:spPr>
          <a:xfrm>
            <a:off x="3840480" y="2176272"/>
            <a:ext cx="1005840" cy="411480"/>
          </a:xfrm>
          <a:prstGeom prst="rect">
            <a:avLst/>
          </a:prstGeom>
          <a:noFill/>
          <a:ln/>
        </p:spPr>
        <p:txBody>
          <a:bodyPr wrap="square" lIns="0" tIns="0" rIns="0" bIns="0" rtlCol="0" anchor="ctr"/>
          <a:lstStyle/>
          <a:p>
            <a:pPr algn="ctr" indent="0" marL="0">
              <a:buNone/>
            </a:pPr>
            <a:r>
              <a:rPr lang="en-US" sz="1300" b="1" dirty="0">
                <a:solidFill>
                  <a:srgbClr val="1A8A5A"/>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4846320" y="2176272"/>
            <a:ext cx="1005840" cy="411480"/>
          </a:xfrm>
          <a:prstGeom prst="rect">
            <a:avLst/>
          </a:prstGeom>
          <a:noFill/>
          <a:ln/>
        </p:spPr>
        <p:txBody>
          <a:bodyPr wrap="square" lIns="0" tIns="0" rIns="0" bIns="0" rtlCol="0" anchor="ctr"/>
          <a:lstStyle/>
          <a:p>
            <a:pPr algn="ctr" indent="0" marL="0">
              <a:buNone/>
            </a:pPr>
            <a:r>
              <a:rPr lang="en-US" sz="1300" b="1" dirty="0">
                <a:solidFill>
                  <a:srgbClr val="1A8A5A"/>
                </a:solidFill>
                <a:latin typeface="Calibri" pitchFamily="34" charset="0"/>
                <a:ea typeface="Calibri" pitchFamily="34" charset="-122"/>
                <a:cs typeface="Calibri" pitchFamily="34" charset="-120"/>
              </a:rPr>
              <a:t>✓</a:t>
            </a:r>
            <a:endParaRPr lang="en-US" sz="1300" dirty="0"/>
          </a:p>
        </p:txBody>
      </p:sp>
      <p:sp>
        <p:nvSpPr>
          <p:cNvPr id="34" name="Text 32"/>
          <p:cNvSpPr/>
          <p:nvPr/>
        </p:nvSpPr>
        <p:spPr>
          <a:xfrm>
            <a:off x="5852160" y="2176272"/>
            <a:ext cx="1051560" cy="411480"/>
          </a:xfrm>
          <a:prstGeom prst="rect">
            <a:avLst/>
          </a:prstGeom>
          <a:noFill/>
          <a:ln/>
        </p:spPr>
        <p:txBody>
          <a:bodyPr wrap="square" lIns="0" tIns="0" rIns="0" bIns="0" rtlCol="0" anchor="ctr"/>
          <a:lstStyle/>
          <a:p>
            <a:pPr algn="ctr" indent="0" marL="0">
              <a:buNone/>
            </a:pPr>
            <a:r>
              <a:rPr lang="en-US" sz="1300" b="1" dirty="0">
                <a:solidFill>
                  <a:srgbClr val="1A8A5A"/>
                </a:solidFill>
                <a:latin typeface="Calibri" pitchFamily="34" charset="0"/>
                <a:ea typeface="Calibri" pitchFamily="34" charset="-122"/>
                <a:cs typeface="Calibri" pitchFamily="34" charset="-120"/>
              </a:rPr>
              <a:t>✓</a:t>
            </a:r>
            <a:endParaRPr lang="en-US" sz="1300" dirty="0"/>
          </a:p>
        </p:txBody>
      </p:sp>
      <p:sp>
        <p:nvSpPr>
          <p:cNvPr id="35" name="Text 33"/>
          <p:cNvSpPr/>
          <p:nvPr/>
        </p:nvSpPr>
        <p:spPr>
          <a:xfrm>
            <a:off x="6903720" y="2176272"/>
            <a:ext cx="114300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36" name="Shape 34"/>
          <p:cNvSpPr/>
          <p:nvPr/>
        </p:nvSpPr>
        <p:spPr>
          <a:xfrm>
            <a:off x="320040" y="2587752"/>
            <a:ext cx="8686800" cy="0"/>
          </a:xfrm>
          <a:prstGeom prst="line">
            <a:avLst/>
          </a:prstGeom>
          <a:noFill/>
          <a:ln w="6350">
            <a:solidFill>
              <a:srgbClr val="E0E8EE"/>
            </a:solidFill>
            <a:prstDash val="solid"/>
          </a:ln>
        </p:spPr>
      </p:sp>
      <p:sp>
        <p:nvSpPr>
          <p:cNvPr id="37" name="Shape 35"/>
          <p:cNvSpPr/>
          <p:nvPr/>
        </p:nvSpPr>
        <p:spPr>
          <a:xfrm>
            <a:off x="320040" y="2587752"/>
            <a:ext cx="8686800" cy="411480"/>
          </a:xfrm>
          <a:prstGeom prst="rect">
            <a:avLst/>
          </a:prstGeom>
          <a:solidFill>
            <a:srgbClr val="F7FAFB"/>
          </a:solidFill>
          <a:ln w="12700">
            <a:solidFill>
              <a:srgbClr val="F7FAFB"/>
            </a:solidFill>
            <a:prstDash val="solid"/>
          </a:ln>
        </p:spPr>
      </p:sp>
      <p:sp>
        <p:nvSpPr>
          <p:cNvPr id="38" name="Text 36"/>
          <p:cNvSpPr/>
          <p:nvPr/>
        </p:nvSpPr>
        <p:spPr>
          <a:xfrm>
            <a:off x="429768" y="2587752"/>
            <a:ext cx="2176272" cy="41148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AI homework grading</a:t>
            </a:r>
            <a:endParaRPr lang="en-US" sz="1050" dirty="0"/>
          </a:p>
        </p:txBody>
      </p:sp>
      <p:sp>
        <p:nvSpPr>
          <p:cNvPr id="39" name="Text 37"/>
          <p:cNvSpPr/>
          <p:nvPr/>
        </p:nvSpPr>
        <p:spPr>
          <a:xfrm>
            <a:off x="2606040" y="2587752"/>
            <a:ext cx="1234440" cy="411480"/>
          </a:xfrm>
          <a:prstGeom prst="rect">
            <a:avLst/>
          </a:prstGeom>
          <a:noFill/>
          <a:ln/>
        </p:spPr>
        <p:txBody>
          <a:bodyPr wrap="square" lIns="0" tIns="0" rIns="0" bIns="0" rtlCol="0" anchor="ctr"/>
          <a:lstStyle/>
          <a:p>
            <a:pPr algn="ctr" indent="0" marL="0">
              <a:buNone/>
            </a:pPr>
            <a:r>
              <a:rPr lang="en-US" sz="1300" b="1" dirty="0">
                <a:solidFill>
                  <a:srgbClr val="0A7585"/>
                </a:solidFill>
                <a:latin typeface="Calibri" pitchFamily="34" charset="0"/>
                <a:ea typeface="Calibri" pitchFamily="34" charset="-122"/>
                <a:cs typeface="Calibri" pitchFamily="34" charset="-120"/>
              </a:rPr>
              <a:t>✓</a:t>
            </a:r>
            <a:endParaRPr lang="en-US" sz="1300" dirty="0"/>
          </a:p>
        </p:txBody>
      </p:sp>
      <p:sp>
        <p:nvSpPr>
          <p:cNvPr id="40" name="Text 38"/>
          <p:cNvSpPr/>
          <p:nvPr/>
        </p:nvSpPr>
        <p:spPr>
          <a:xfrm>
            <a:off x="3840480" y="2587752"/>
            <a:ext cx="100584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41" name="Text 39"/>
          <p:cNvSpPr/>
          <p:nvPr/>
        </p:nvSpPr>
        <p:spPr>
          <a:xfrm>
            <a:off x="4846320" y="2587752"/>
            <a:ext cx="100584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42" name="Text 40"/>
          <p:cNvSpPr/>
          <p:nvPr/>
        </p:nvSpPr>
        <p:spPr>
          <a:xfrm>
            <a:off x="5852160" y="2587752"/>
            <a:ext cx="105156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43" name="Text 41"/>
          <p:cNvSpPr/>
          <p:nvPr/>
        </p:nvSpPr>
        <p:spPr>
          <a:xfrm>
            <a:off x="6903720" y="2587752"/>
            <a:ext cx="114300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44" name="Shape 42"/>
          <p:cNvSpPr/>
          <p:nvPr/>
        </p:nvSpPr>
        <p:spPr>
          <a:xfrm>
            <a:off x="320040" y="2999232"/>
            <a:ext cx="8686800" cy="0"/>
          </a:xfrm>
          <a:prstGeom prst="line">
            <a:avLst/>
          </a:prstGeom>
          <a:noFill/>
          <a:ln w="6350">
            <a:solidFill>
              <a:srgbClr val="E0E8EE"/>
            </a:solidFill>
            <a:prstDash val="solid"/>
          </a:ln>
        </p:spPr>
      </p:sp>
      <p:sp>
        <p:nvSpPr>
          <p:cNvPr id="45" name="Shape 43"/>
          <p:cNvSpPr/>
          <p:nvPr/>
        </p:nvSpPr>
        <p:spPr>
          <a:xfrm>
            <a:off x="320040" y="2999232"/>
            <a:ext cx="8686800" cy="411480"/>
          </a:xfrm>
          <a:prstGeom prst="rect">
            <a:avLst/>
          </a:prstGeom>
          <a:solidFill>
            <a:srgbClr val="FFFFFF"/>
          </a:solidFill>
          <a:ln w="12700">
            <a:solidFill>
              <a:srgbClr val="FFFFFF"/>
            </a:solidFill>
            <a:prstDash val="solid"/>
          </a:ln>
        </p:spPr>
      </p:sp>
      <p:sp>
        <p:nvSpPr>
          <p:cNvPr id="46" name="Text 44"/>
          <p:cNvSpPr/>
          <p:nvPr/>
        </p:nvSpPr>
        <p:spPr>
          <a:xfrm>
            <a:off x="429768" y="2999232"/>
            <a:ext cx="2176272" cy="41148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Free to browse</a:t>
            </a:r>
            <a:endParaRPr lang="en-US" sz="1050" dirty="0"/>
          </a:p>
        </p:txBody>
      </p:sp>
      <p:sp>
        <p:nvSpPr>
          <p:cNvPr id="47" name="Text 45"/>
          <p:cNvSpPr/>
          <p:nvPr/>
        </p:nvSpPr>
        <p:spPr>
          <a:xfrm>
            <a:off x="2606040" y="2999232"/>
            <a:ext cx="1234440" cy="411480"/>
          </a:xfrm>
          <a:prstGeom prst="rect">
            <a:avLst/>
          </a:prstGeom>
          <a:noFill/>
          <a:ln/>
        </p:spPr>
        <p:txBody>
          <a:bodyPr wrap="square" lIns="0" tIns="0" rIns="0" bIns="0" rtlCol="0" anchor="ctr"/>
          <a:lstStyle/>
          <a:p>
            <a:pPr algn="ctr" indent="0" marL="0">
              <a:buNone/>
            </a:pPr>
            <a:r>
              <a:rPr lang="en-US" sz="1300" b="1" dirty="0">
                <a:solidFill>
                  <a:srgbClr val="0A7585"/>
                </a:solidFill>
                <a:latin typeface="Calibri" pitchFamily="34" charset="0"/>
                <a:ea typeface="Calibri" pitchFamily="34" charset="-122"/>
                <a:cs typeface="Calibri" pitchFamily="34" charset="-120"/>
              </a:rPr>
              <a:t>✓</a:t>
            </a:r>
            <a:endParaRPr lang="en-US" sz="1300" dirty="0"/>
          </a:p>
        </p:txBody>
      </p:sp>
      <p:sp>
        <p:nvSpPr>
          <p:cNvPr id="48" name="Text 46"/>
          <p:cNvSpPr/>
          <p:nvPr/>
        </p:nvSpPr>
        <p:spPr>
          <a:xfrm>
            <a:off x="3840480" y="2999232"/>
            <a:ext cx="100584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49" name="Text 47"/>
          <p:cNvSpPr/>
          <p:nvPr/>
        </p:nvSpPr>
        <p:spPr>
          <a:xfrm>
            <a:off x="4846320" y="2999232"/>
            <a:ext cx="1005840" cy="411480"/>
          </a:xfrm>
          <a:prstGeom prst="rect">
            <a:avLst/>
          </a:prstGeom>
          <a:noFill/>
          <a:ln/>
        </p:spPr>
        <p:txBody>
          <a:bodyPr wrap="square" lIns="0" tIns="0" rIns="0" bIns="0" rtlCol="0" anchor="ctr"/>
          <a:lstStyle/>
          <a:p>
            <a:pPr algn="ctr" indent="0" marL="0">
              <a:buNone/>
            </a:pPr>
            <a:r>
              <a:rPr lang="en-US" sz="1300" b="1" dirty="0">
                <a:solidFill>
                  <a:srgbClr val="1A8A5A"/>
                </a:solidFill>
                <a:latin typeface="Calibri" pitchFamily="34" charset="0"/>
                <a:ea typeface="Calibri" pitchFamily="34" charset="-122"/>
                <a:cs typeface="Calibri" pitchFamily="34" charset="-120"/>
              </a:rPr>
              <a:t>✓</a:t>
            </a:r>
            <a:endParaRPr lang="en-US" sz="1300" dirty="0"/>
          </a:p>
        </p:txBody>
      </p:sp>
      <p:sp>
        <p:nvSpPr>
          <p:cNvPr id="50" name="Text 48"/>
          <p:cNvSpPr/>
          <p:nvPr/>
        </p:nvSpPr>
        <p:spPr>
          <a:xfrm>
            <a:off x="5852160" y="2999232"/>
            <a:ext cx="105156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51" name="Text 49"/>
          <p:cNvSpPr/>
          <p:nvPr/>
        </p:nvSpPr>
        <p:spPr>
          <a:xfrm>
            <a:off x="6903720" y="2999232"/>
            <a:ext cx="1143000" cy="411480"/>
          </a:xfrm>
          <a:prstGeom prst="rect">
            <a:avLst/>
          </a:prstGeom>
          <a:noFill/>
          <a:ln/>
        </p:spPr>
        <p:txBody>
          <a:bodyPr wrap="square" lIns="0" tIns="0" rIns="0" bIns="0" rtlCol="0" anchor="ctr"/>
          <a:lstStyle/>
          <a:p>
            <a:pPr algn="ctr" indent="0" marL="0">
              <a:buNone/>
            </a:pPr>
            <a:r>
              <a:rPr lang="en-US" sz="1300" b="1" dirty="0">
                <a:solidFill>
                  <a:srgbClr val="1A8A5A"/>
                </a:solidFill>
                <a:latin typeface="Calibri" pitchFamily="34" charset="0"/>
                <a:ea typeface="Calibri" pitchFamily="34" charset="-122"/>
                <a:cs typeface="Calibri" pitchFamily="34" charset="-120"/>
              </a:rPr>
              <a:t>✓</a:t>
            </a:r>
            <a:endParaRPr lang="en-US" sz="1300" dirty="0"/>
          </a:p>
        </p:txBody>
      </p:sp>
      <p:sp>
        <p:nvSpPr>
          <p:cNvPr id="52" name="Shape 50"/>
          <p:cNvSpPr/>
          <p:nvPr/>
        </p:nvSpPr>
        <p:spPr>
          <a:xfrm>
            <a:off x="320040" y="3410712"/>
            <a:ext cx="8686800" cy="0"/>
          </a:xfrm>
          <a:prstGeom prst="line">
            <a:avLst/>
          </a:prstGeom>
          <a:noFill/>
          <a:ln w="6350">
            <a:solidFill>
              <a:srgbClr val="E0E8EE"/>
            </a:solidFill>
            <a:prstDash val="solid"/>
          </a:ln>
        </p:spPr>
      </p:sp>
      <p:sp>
        <p:nvSpPr>
          <p:cNvPr id="53" name="Shape 51"/>
          <p:cNvSpPr/>
          <p:nvPr/>
        </p:nvSpPr>
        <p:spPr>
          <a:xfrm>
            <a:off x="320040" y="3410712"/>
            <a:ext cx="8686800" cy="411480"/>
          </a:xfrm>
          <a:prstGeom prst="rect">
            <a:avLst/>
          </a:prstGeom>
          <a:solidFill>
            <a:srgbClr val="F7FAFB"/>
          </a:solidFill>
          <a:ln w="12700">
            <a:solidFill>
              <a:srgbClr val="F7FAFB"/>
            </a:solidFill>
            <a:prstDash val="solid"/>
          </a:ln>
        </p:spPr>
      </p:sp>
      <p:sp>
        <p:nvSpPr>
          <p:cNvPr id="54" name="Text 52"/>
          <p:cNvSpPr/>
          <p:nvPr/>
        </p:nvSpPr>
        <p:spPr>
          <a:xfrm>
            <a:off x="429768" y="3410712"/>
            <a:ext cx="2176272" cy="41148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Booking system</a:t>
            </a:r>
            <a:endParaRPr lang="en-US" sz="1050" dirty="0"/>
          </a:p>
        </p:txBody>
      </p:sp>
      <p:sp>
        <p:nvSpPr>
          <p:cNvPr id="55" name="Text 53"/>
          <p:cNvSpPr/>
          <p:nvPr/>
        </p:nvSpPr>
        <p:spPr>
          <a:xfrm>
            <a:off x="2606040" y="3410712"/>
            <a:ext cx="1234440" cy="411480"/>
          </a:xfrm>
          <a:prstGeom prst="rect">
            <a:avLst/>
          </a:prstGeom>
          <a:noFill/>
          <a:ln/>
        </p:spPr>
        <p:txBody>
          <a:bodyPr wrap="square" lIns="0" tIns="0" rIns="0" bIns="0" rtlCol="0" anchor="ctr"/>
          <a:lstStyle/>
          <a:p>
            <a:pPr algn="ctr" indent="0" marL="0">
              <a:buNone/>
            </a:pPr>
            <a:r>
              <a:rPr lang="en-US" sz="1300" b="1" dirty="0">
                <a:solidFill>
                  <a:srgbClr val="0A7585"/>
                </a:solidFill>
                <a:latin typeface="Calibri" pitchFamily="34" charset="0"/>
                <a:ea typeface="Calibri" pitchFamily="34" charset="-122"/>
                <a:cs typeface="Calibri" pitchFamily="34" charset="-120"/>
              </a:rPr>
              <a:t>✓</a:t>
            </a:r>
            <a:endParaRPr lang="en-US" sz="1300" dirty="0"/>
          </a:p>
        </p:txBody>
      </p:sp>
      <p:sp>
        <p:nvSpPr>
          <p:cNvPr id="56" name="Text 54"/>
          <p:cNvSpPr/>
          <p:nvPr/>
        </p:nvSpPr>
        <p:spPr>
          <a:xfrm>
            <a:off x="3840480" y="3410712"/>
            <a:ext cx="1005840" cy="411480"/>
          </a:xfrm>
          <a:prstGeom prst="rect">
            <a:avLst/>
          </a:prstGeom>
          <a:noFill/>
          <a:ln/>
        </p:spPr>
        <p:txBody>
          <a:bodyPr wrap="square" lIns="0" tIns="0" rIns="0" bIns="0" rtlCol="0" anchor="ctr"/>
          <a:lstStyle/>
          <a:p>
            <a:pPr algn="ctr" indent="0" marL="0">
              <a:buNone/>
            </a:pPr>
            <a:r>
              <a:rPr lang="en-US" sz="1300" b="1" dirty="0">
                <a:solidFill>
                  <a:srgbClr val="1A8A5A"/>
                </a:solidFill>
                <a:latin typeface="Calibri" pitchFamily="34" charset="0"/>
                <a:ea typeface="Calibri" pitchFamily="34" charset="-122"/>
                <a:cs typeface="Calibri" pitchFamily="34" charset="-120"/>
              </a:rPr>
              <a:t>✓</a:t>
            </a:r>
            <a:endParaRPr lang="en-US" sz="1300" dirty="0"/>
          </a:p>
        </p:txBody>
      </p:sp>
      <p:sp>
        <p:nvSpPr>
          <p:cNvPr id="57" name="Text 55"/>
          <p:cNvSpPr/>
          <p:nvPr/>
        </p:nvSpPr>
        <p:spPr>
          <a:xfrm>
            <a:off x="4846320" y="3410712"/>
            <a:ext cx="1005840" cy="411480"/>
          </a:xfrm>
          <a:prstGeom prst="rect">
            <a:avLst/>
          </a:prstGeom>
          <a:noFill/>
          <a:ln/>
        </p:spPr>
        <p:txBody>
          <a:bodyPr wrap="square" lIns="0" tIns="0" rIns="0" bIns="0" rtlCol="0" anchor="ctr"/>
          <a:lstStyle/>
          <a:p>
            <a:pPr algn="ctr" indent="0" marL="0">
              <a:buNone/>
            </a:pPr>
            <a:r>
              <a:rPr lang="en-US" sz="1300" b="1" dirty="0">
                <a:solidFill>
                  <a:srgbClr val="1A8A5A"/>
                </a:solidFill>
                <a:latin typeface="Calibri" pitchFamily="34" charset="0"/>
                <a:ea typeface="Calibri" pitchFamily="34" charset="-122"/>
                <a:cs typeface="Calibri" pitchFamily="34" charset="-120"/>
              </a:rPr>
              <a:t>✓</a:t>
            </a:r>
            <a:endParaRPr lang="en-US" sz="1300" dirty="0"/>
          </a:p>
        </p:txBody>
      </p:sp>
      <p:sp>
        <p:nvSpPr>
          <p:cNvPr id="58" name="Text 56"/>
          <p:cNvSpPr/>
          <p:nvPr/>
        </p:nvSpPr>
        <p:spPr>
          <a:xfrm>
            <a:off x="5852160" y="3410712"/>
            <a:ext cx="1051560" cy="411480"/>
          </a:xfrm>
          <a:prstGeom prst="rect">
            <a:avLst/>
          </a:prstGeom>
          <a:noFill/>
          <a:ln/>
        </p:spPr>
        <p:txBody>
          <a:bodyPr wrap="square" lIns="0" tIns="0" rIns="0" bIns="0" rtlCol="0" anchor="ctr"/>
          <a:lstStyle/>
          <a:p>
            <a:pPr algn="ctr" indent="0" marL="0">
              <a:buNone/>
            </a:pPr>
            <a:r>
              <a:rPr lang="en-US" sz="1300" b="1" dirty="0">
                <a:solidFill>
                  <a:srgbClr val="1A8A5A"/>
                </a:solidFill>
                <a:latin typeface="Calibri" pitchFamily="34" charset="0"/>
                <a:ea typeface="Calibri" pitchFamily="34" charset="-122"/>
                <a:cs typeface="Calibri" pitchFamily="34" charset="-120"/>
              </a:rPr>
              <a:t>✓</a:t>
            </a:r>
            <a:endParaRPr lang="en-US" sz="1300" dirty="0"/>
          </a:p>
        </p:txBody>
      </p:sp>
      <p:sp>
        <p:nvSpPr>
          <p:cNvPr id="59" name="Text 57"/>
          <p:cNvSpPr/>
          <p:nvPr/>
        </p:nvSpPr>
        <p:spPr>
          <a:xfrm>
            <a:off x="6903720" y="3410712"/>
            <a:ext cx="1143000" cy="411480"/>
          </a:xfrm>
          <a:prstGeom prst="rect">
            <a:avLst/>
          </a:prstGeom>
          <a:noFill/>
          <a:ln/>
        </p:spPr>
        <p:txBody>
          <a:bodyPr wrap="square" lIns="0" tIns="0" rIns="0" bIns="0" rtlCol="0" anchor="ctr"/>
          <a:lstStyle/>
          <a:p>
            <a:pPr algn="ctr" indent="0" marL="0">
              <a:buNone/>
            </a:pPr>
            <a:r>
              <a:rPr lang="en-US" sz="1300" dirty="0">
                <a:solidFill>
                  <a:srgbClr val="C8D4DE"/>
                </a:solidFill>
                <a:latin typeface="Calibri" pitchFamily="34" charset="0"/>
                <a:ea typeface="Calibri" pitchFamily="34" charset="-122"/>
                <a:cs typeface="Calibri" pitchFamily="34" charset="-120"/>
              </a:rPr>
              <a:t>–</a:t>
            </a:r>
            <a:endParaRPr lang="en-US" sz="1300" dirty="0"/>
          </a:p>
        </p:txBody>
      </p:sp>
      <p:sp>
        <p:nvSpPr>
          <p:cNvPr id="60" name="Shape 58"/>
          <p:cNvSpPr/>
          <p:nvPr/>
        </p:nvSpPr>
        <p:spPr>
          <a:xfrm>
            <a:off x="320040" y="3822192"/>
            <a:ext cx="8686800" cy="0"/>
          </a:xfrm>
          <a:prstGeom prst="line">
            <a:avLst/>
          </a:prstGeom>
          <a:noFill/>
          <a:ln w="6350">
            <a:solidFill>
              <a:srgbClr val="E0E8EE"/>
            </a:solidFill>
            <a:prstDash val="solid"/>
          </a:ln>
        </p:spPr>
      </p:sp>
      <p:sp>
        <p:nvSpPr>
          <p:cNvPr id="61" name="Shape 59"/>
          <p:cNvSpPr/>
          <p:nvPr/>
        </p:nvSpPr>
        <p:spPr>
          <a:xfrm>
            <a:off x="320040" y="3986784"/>
            <a:ext cx="8503920" cy="777240"/>
          </a:xfrm>
          <a:prstGeom prst="roundRect">
            <a:avLst>
              <a:gd name="adj" fmla="val 9412"/>
            </a:avLst>
          </a:prstGeom>
          <a:solidFill>
            <a:srgbClr val="EBF4F6"/>
          </a:solidFill>
          <a:ln w="12700">
            <a:solidFill>
              <a:srgbClr val="EBF4F6"/>
            </a:solidFill>
            <a:prstDash val="solid"/>
          </a:ln>
          <a:effectLst>
            <a:outerShdw sx="100000" sy="100000" kx="0" ky="0" algn="bl" rotWithShape="0" blurRad="101600" dist="38100" dir="2700000">
              <a:srgbClr val="000000">
                <a:alpha val="12000"/>
              </a:srgbClr>
            </a:outerShdw>
          </a:effectLst>
        </p:spPr>
      </p:sp>
      <p:sp>
        <p:nvSpPr>
          <p:cNvPr id="62" name="Text 60"/>
          <p:cNvSpPr/>
          <p:nvPr/>
        </p:nvSpPr>
        <p:spPr>
          <a:xfrm>
            <a:off x="502920" y="4078224"/>
            <a:ext cx="8229600" cy="256032"/>
          </a:xfrm>
          <a:prstGeom prst="rect">
            <a:avLst/>
          </a:prstGeom>
          <a:noFill/>
          <a:ln/>
        </p:spPr>
        <p:txBody>
          <a:bodyPr wrap="square" lIns="0" tIns="0" rIns="0" bIns="0" rtlCol="0" anchor="ctr"/>
          <a:lstStyle/>
          <a:p>
            <a:pPr indent="0" marL="0">
              <a:buNone/>
            </a:pPr>
            <a:r>
              <a:rPr lang="en-US" sz="1200" b="1" dirty="0">
                <a:solidFill>
                  <a:srgbClr val="0A7585"/>
                </a:solidFill>
                <a:latin typeface="Calibri" pitchFamily="34" charset="0"/>
                <a:ea typeface="Calibri" pitchFamily="34" charset="-122"/>
                <a:cs typeface="Calibri" pitchFamily="34" charset="-120"/>
              </a:rPr>
              <a:t>Moat: Network Economics (Helmer Power)</a:t>
            </a:r>
            <a:endParaRPr lang="en-US" sz="1200" dirty="0"/>
          </a:p>
        </p:txBody>
      </p:sp>
      <p:sp>
        <p:nvSpPr>
          <p:cNvPr id="63" name="Text 61"/>
          <p:cNvSpPr/>
          <p:nvPr/>
        </p:nvSpPr>
        <p:spPr>
          <a:xfrm>
            <a:off x="502920" y="4370832"/>
            <a:ext cx="8229600" cy="301752"/>
          </a:xfrm>
          <a:prstGeom prst="rect">
            <a:avLst/>
          </a:prstGeom>
          <a:noFill/>
          <a:ln/>
        </p:spPr>
        <p:txBody>
          <a:bodyPr wrap="square" lIns="0" tIns="0" rIns="0" bIns="0" rtlCol="0" anchor="ctr"/>
          <a:lstStyle/>
          <a:p>
            <a:pPr indent="0" marL="0">
              <a:buNone/>
            </a:pPr>
            <a:r>
              <a:rPr lang="en-US" sz="950" dirty="0">
                <a:solidFill>
                  <a:srgbClr val="6B8099"/>
                </a:solidFill>
                <a:latin typeface="Calibri" pitchFamily="34" charset="0"/>
                <a:ea typeface="Calibri" pitchFamily="34" charset="-122"/>
                <a:cs typeface="Calibri" pitchFamily="34" charset="-120"/>
              </a:rPr>
              <a:t>More tutors → more students → more tutor revenue → more referrals. Combined with Georgian-first UI + exam syllabus = hard to replicate. Evidence: 06-strategy/moat-statement.md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D40"/>
          </a:solidFill>
          <a:ln w="12700">
            <a:solidFill>
              <a:srgbClr val="0D2D40"/>
            </a:solidFill>
            <a:prstDash val="solid"/>
          </a:ln>
        </p:spPr>
      </p:sp>
      <p:sp>
        <p:nvSpPr>
          <p:cNvPr id="3" name="Text 1"/>
          <p:cNvSpPr/>
          <p:nvPr/>
        </p:nvSpPr>
        <p:spPr>
          <a:xfrm>
            <a:off x="320040" y="91440"/>
            <a:ext cx="182880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10 · ASK</a:t>
            </a:r>
            <a:endParaRPr lang="en-US" sz="800" dirty="0"/>
          </a:p>
        </p:txBody>
      </p:sp>
      <p:sp>
        <p:nvSpPr>
          <p:cNvPr id="4" name="Text 2"/>
          <p:cNvSpPr/>
          <p:nvPr/>
        </p:nvSpPr>
        <p:spPr>
          <a:xfrm>
            <a:off x="320040" y="320040"/>
            <a:ext cx="82296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Seed round — specific amount, specific milestones.</a:t>
            </a:r>
            <a:endParaRPr lang="en-US" sz="2400" dirty="0"/>
          </a:p>
        </p:txBody>
      </p:sp>
      <p:sp>
        <p:nvSpPr>
          <p:cNvPr id="5" name="Text 3"/>
          <p:cNvSpPr/>
          <p:nvPr/>
        </p:nvSpPr>
        <p:spPr>
          <a:xfrm>
            <a:off x="6858000" y="91440"/>
            <a:ext cx="2011680" cy="256032"/>
          </a:xfrm>
          <a:prstGeom prst="rect">
            <a:avLst/>
          </a:prstGeom>
          <a:noFill/>
          <a:ln/>
        </p:spPr>
        <p:txBody>
          <a:bodyPr wrap="square" lIns="0" tIns="0" rIns="0" bIns="0"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TutorLink</a:t>
            </a:r>
            <a:endParaRPr lang="en-US" sz="900" dirty="0"/>
          </a:p>
        </p:txBody>
      </p:sp>
      <p:sp>
        <p:nvSpPr>
          <p:cNvPr id="6" name="Shape 4"/>
          <p:cNvSpPr/>
          <p:nvPr/>
        </p:nvSpPr>
        <p:spPr>
          <a:xfrm>
            <a:off x="320040" y="1051560"/>
            <a:ext cx="8503920" cy="804672"/>
          </a:xfrm>
          <a:prstGeom prst="roundRect">
            <a:avLst>
              <a:gd name="adj" fmla="val 9091"/>
            </a:avLst>
          </a:prstGeom>
          <a:solidFill>
            <a:srgbClr val="E8A020"/>
          </a:solidFill>
          <a:ln w="12700">
            <a:solidFill>
              <a:srgbClr val="E8A020"/>
            </a:solidFill>
            <a:prstDash val="solid"/>
          </a:ln>
        </p:spPr>
      </p:sp>
      <p:sp>
        <p:nvSpPr>
          <p:cNvPr id="7" name="Text 5"/>
          <p:cNvSpPr/>
          <p:nvPr/>
        </p:nvSpPr>
        <p:spPr>
          <a:xfrm>
            <a:off x="320040" y="1051560"/>
            <a:ext cx="8503920" cy="548640"/>
          </a:xfrm>
          <a:prstGeom prst="rect">
            <a:avLst/>
          </a:prstGeom>
          <a:noFill/>
          <a:ln/>
        </p:spPr>
        <p:txBody>
          <a:bodyPr wrap="square" lIns="0" tIns="0" rIns="0" bIns="0" rtlCol="0" anchor="ctr"/>
          <a:lstStyle/>
          <a:p>
            <a:pPr algn="ctr" indent="0" marL="0">
              <a:buNone/>
            </a:pPr>
            <a:r>
              <a:rPr lang="en-US" sz="3800" b="1" dirty="0">
                <a:solidFill>
                  <a:srgbClr val="0B1F3A"/>
                </a:solidFill>
                <a:latin typeface="Calibri" pitchFamily="34" charset="0"/>
                <a:ea typeface="Calibri" pitchFamily="34" charset="-122"/>
                <a:cs typeface="Calibri" pitchFamily="34" charset="-120"/>
              </a:rPr>
              <a:t>$50,000 USD</a:t>
            </a:r>
            <a:endParaRPr lang="en-US" sz="3800" dirty="0"/>
          </a:p>
        </p:txBody>
      </p:sp>
      <p:sp>
        <p:nvSpPr>
          <p:cNvPr id="8" name="Text 6"/>
          <p:cNvSpPr/>
          <p:nvPr/>
        </p:nvSpPr>
        <p:spPr>
          <a:xfrm>
            <a:off x="320040" y="1600200"/>
            <a:ext cx="8503920" cy="256032"/>
          </a:xfrm>
          <a:prstGeom prst="rect">
            <a:avLst/>
          </a:prstGeom>
          <a:noFill/>
          <a:ln/>
        </p:spPr>
        <p:txBody>
          <a:bodyPr wrap="square" lIns="0" tIns="0" rIns="0" bIns="0" rtlCol="0" anchor="ctr"/>
          <a:lstStyle/>
          <a:p>
            <a:pPr algn="ctr" indent="0" marL="0">
              <a:buNone/>
            </a:pPr>
            <a:r>
              <a:rPr lang="en-US" sz="950" dirty="0">
                <a:solidFill>
                  <a:srgbClr val="0B1F3A"/>
                </a:solidFill>
                <a:latin typeface="Calibri" pitchFamily="34" charset="0"/>
                <a:ea typeface="Calibri" pitchFamily="34" charset="-122"/>
                <a:cs typeface="Calibri" pitchFamily="34" charset="-120"/>
              </a:rPr>
              <a:t>Pre-seed · seeking angel investor, design partner, or advisor introduction to Georgian education sector</a:t>
            </a:r>
            <a:endParaRPr lang="en-US" sz="950" dirty="0"/>
          </a:p>
        </p:txBody>
      </p:sp>
      <p:sp>
        <p:nvSpPr>
          <p:cNvPr id="9" name="Text 7"/>
          <p:cNvSpPr/>
          <p:nvPr/>
        </p:nvSpPr>
        <p:spPr>
          <a:xfrm>
            <a:off x="320040" y="2011680"/>
            <a:ext cx="850392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USE OF FUNDS</a:t>
            </a:r>
            <a:endParaRPr lang="en-US" sz="800" dirty="0"/>
          </a:p>
        </p:txBody>
      </p:sp>
      <p:sp>
        <p:nvSpPr>
          <p:cNvPr id="10" name="Shape 8"/>
          <p:cNvSpPr/>
          <p:nvPr/>
        </p:nvSpPr>
        <p:spPr>
          <a:xfrm>
            <a:off x="320040" y="2304288"/>
            <a:ext cx="8503920" cy="384048"/>
          </a:xfrm>
          <a:prstGeom prst="roundRect">
            <a:avLst>
              <a:gd name="adj" fmla="val 14286"/>
            </a:avLst>
          </a:prstGeom>
          <a:solidFill>
            <a:srgbClr val="0D2D40"/>
          </a:solidFill>
          <a:ln w="12700">
            <a:solidFill>
              <a:srgbClr val="0D2D40"/>
            </a:solidFill>
            <a:prstDash val="solid"/>
          </a:ln>
        </p:spPr>
      </p:sp>
      <p:sp>
        <p:nvSpPr>
          <p:cNvPr id="11" name="Text 9"/>
          <p:cNvSpPr/>
          <p:nvPr/>
        </p:nvSpPr>
        <p:spPr>
          <a:xfrm>
            <a:off x="457200" y="2359152"/>
            <a:ext cx="1554480" cy="274320"/>
          </a:xfrm>
          <a:prstGeom prst="rect">
            <a:avLst/>
          </a:prstGeom>
          <a:noFill/>
          <a:ln/>
        </p:spPr>
        <p:txBody>
          <a:bodyPr wrap="square" lIns="0" tIns="0" rIns="0" bIns="0" rtlCol="0" anchor="ctr"/>
          <a:lstStyle/>
          <a:p>
            <a:pPr indent="0" marL="0">
              <a:buNone/>
            </a:pPr>
            <a:r>
              <a:rPr lang="en-US" sz="1000" b="1" dirty="0">
                <a:solidFill>
                  <a:srgbClr val="E8A020"/>
                </a:solidFill>
                <a:latin typeface="Calibri" pitchFamily="34" charset="0"/>
                <a:ea typeface="Calibri" pitchFamily="34" charset="-122"/>
                <a:cs typeface="Calibri" pitchFamily="34" charset="-120"/>
              </a:rPr>
              <a:t>60%  ·  $30,000</a:t>
            </a:r>
            <a:endParaRPr lang="en-US" sz="1000" dirty="0"/>
          </a:p>
        </p:txBody>
      </p:sp>
      <p:sp>
        <p:nvSpPr>
          <p:cNvPr id="12" name="Text 10"/>
          <p:cNvSpPr/>
          <p:nvPr/>
        </p:nvSpPr>
        <p:spPr>
          <a:xfrm>
            <a:off x="2103120" y="2359152"/>
            <a:ext cx="6583680" cy="274320"/>
          </a:xfrm>
          <a:prstGeom prst="rect">
            <a:avLst/>
          </a:prstGeom>
          <a:noFill/>
          <a:ln/>
        </p:spPr>
        <p:txBody>
          <a:bodyPr wrap="square" lIns="0" tIns="0" rIns="0" bIns="0" rtlCol="0" anchor="ctr"/>
          <a:lstStyle/>
          <a:p>
            <a:pPr indent="0" marL="0">
              <a:buNone/>
            </a:pPr>
            <a:r>
              <a:rPr lang="en-US" sz="1000" dirty="0">
                <a:solidFill>
                  <a:srgbClr val="9BB8CC"/>
                </a:solidFill>
                <a:latin typeface="Calibri" pitchFamily="34" charset="0"/>
                <a:ea typeface="Calibri" pitchFamily="34" charset="-122"/>
                <a:cs typeface="Calibri" pitchFamily="34" charset="-120"/>
              </a:rPr>
              <a:t>LiveKit Cloud — 6 months of video lesson infrastructure at 200 students/month</a:t>
            </a:r>
            <a:endParaRPr lang="en-US" sz="1000" dirty="0"/>
          </a:p>
        </p:txBody>
      </p:sp>
      <p:sp>
        <p:nvSpPr>
          <p:cNvPr id="13" name="Shape 11"/>
          <p:cNvSpPr/>
          <p:nvPr/>
        </p:nvSpPr>
        <p:spPr>
          <a:xfrm>
            <a:off x="320040" y="2761488"/>
            <a:ext cx="8503920" cy="384048"/>
          </a:xfrm>
          <a:prstGeom prst="roundRect">
            <a:avLst>
              <a:gd name="adj" fmla="val 14286"/>
            </a:avLst>
          </a:prstGeom>
          <a:solidFill>
            <a:srgbClr val="0D2D40"/>
          </a:solidFill>
          <a:ln w="12700">
            <a:solidFill>
              <a:srgbClr val="0D2D40"/>
            </a:solidFill>
            <a:prstDash val="solid"/>
          </a:ln>
        </p:spPr>
      </p:sp>
      <p:sp>
        <p:nvSpPr>
          <p:cNvPr id="14" name="Text 12"/>
          <p:cNvSpPr/>
          <p:nvPr/>
        </p:nvSpPr>
        <p:spPr>
          <a:xfrm>
            <a:off x="457200" y="2816352"/>
            <a:ext cx="1554480" cy="274320"/>
          </a:xfrm>
          <a:prstGeom prst="rect">
            <a:avLst/>
          </a:prstGeom>
          <a:noFill/>
          <a:ln/>
        </p:spPr>
        <p:txBody>
          <a:bodyPr wrap="square" lIns="0" tIns="0" rIns="0" bIns="0" rtlCol="0" anchor="ctr"/>
          <a:lstStyle/>
          <a:p>
            <a:pPr indent="0" marL="0">
              <a:buNone/>
            </a:pPr>
            <a:r>
              <a:rPr lang="en-US" sz="1000" b="1" dirty="0">
                <a:solidFill>
                  <a:srgbClr val="E8A020"/>
                </a:solidFill>
                <a:latin typeface="Calibri" pitchFamily="34" charset="0"/>
                <a:ea typeface="Calibri" pitchFamily="34" charset="-122"/>
                <a:cs typeface="Calibri" pitchFamily="34" charset="-120"/>
              </a:rPr>
              <a:t>25%  ·  $12,500</a:t>
            </a:r>
            <a:endParaRPr lang="en-US" sz="1000" dirty="0"/>
          </a:p>
        </p:txBody>
      </p:sp>
      <p:sp>
        <p:nvSpPr>
          <p:cNvPr id="15" name="Text 13"/>
          <p:cNvSpPr/>
          <p:nvPr/>
        </p:nvSpPr>
        <p:spPr>
          <a:xfrm>
            <a:off x="2103120" y="2816352"/>
            <a:ext cx="6583680" cy="274320"/>
          </a:xfrm>
          <a:prstGeom prst="rect">
            <a:avLst/>
          </a:prstGeom>
          <a:noFill/>
          <a:ln/>
        </p:spPr>
        <p:txBody>
          <a:bodyPr wrap="square" lIns="0" tIns="0" rIns="0" bIns="0" rtlCol="0" anchor="ctr"/>
          <a:lstStyle/>
          <a:p>
            <a:pPr indent="0" marL="0">
              <a:buNone/>
            </a:pPr>
            <a:r>
              <a:rPr lang="en-US" sz="1000" dirty="0">
                <a:solidFill>
                  <a:srgbClr val="9BB8CC"/>
                </a:solidFill>
                <a:latin typeface="Calibri" pitchFamily="34" charset="0"/>
                <a:ea typeface="Calibri" pitchFamily="34" charset="-122"/>
                <a:cs typeface="Calibri" pitchFamily="34" charset="-120"/>
              </a:rPr>
              <a:t>Growth: tutor referral incentives, Telegram partnerships, first paid acquisition test</a:t>
            </a:r>
            <a:endParaRPr lang="en-US" sz="1000" dirty="0"/>
          </a:p>
        </p:txBody>
      </p:sp>
      <p:sp>
        <p:nvSpPr>
          <p:cNvPr id="16" name="Shape 14"/>
          <p:cNvSpPr/>
          <p:nvPr/>
        </p:nvSpPr>
        <p:spPr>
          <a:xfrm>
            <a:off x="320040" y="3218688"/>
            <a:ext cx="8503920" cy="384048"/>
          </a:xfrm>
          <a:prstGeom prst="roundRect">
            <a:avLst>
              <a:gd name="adj" fmla="val 14286"/>
            </a:avLst>
          </a:prstGeom>
          <a:solidFill>
            <a:srgbClr val="0D2D40"/>
          </a:solidFill>
          <a:ln w="12700">
            <a:solidFill>
              <a:srgbClr val="0D2D40"/>
            </a:solidFill>
            <a:prstDash val="solid"/>
          </a:ln>
        </p:spPr>
      </p:sp>
      <p:sp>
        <p:nvSpPr>
          <p:cNvPr id="17" name="Text 15"/>
          <p:cNvSpPr/>
          <p:nvPr/>
        </p:nvSpPr>
        <p:spPr>
          <a:xfrm>
            <a:off x="457200" y="3273552"/>
            <a:ext cx="1554480" cy="274320"/>
          </a:xfrm>
          <a:prstGeom prst="rect">
            <a:avLst/>
          </a:prstGeom>
          <a:noFill/>
          <a:ln/>
        </p:spPr>
        <p:txBody>
          <a:bodyPr wrap="square" lIns="0" tIns="0" rIns="0" bIns="0" rtlCol="0" anchor="ctr"/>
          <a:lstStyle/>
          <a:p>
            <a:pPr indent="0" marL="0">
              <a:buNone/>
            </a:pPr>
            <a:r>
              <a:rPr lang="en-US" sz="1000" b="1" dirty="0">
                <a:solidFill>
                  <a:srgbClr val="E8A020"/>
                </a:solidFill>
                <a:latin typeface="Calibri" pitchFamily="34" charset="0"/>
                <a:ea typeface="Calibri" pitchFamily="34" charset="-122"/>
                <a:cs typeface="Calibri" pitchFamily="34" charset="-120"/>
              </a:rPr>
              <a:t>15%  ·  $7,500</a:t>
            </a:r>
            <a:endParaRPr lang="en-US" sz="1000" dirty="0"/>
          </a:p>
        </p:txBody>
      </p:sp>
      <p:sp>
        <p:nvSpPr>
          <p:cNvPr id="18" name="Text 16"/>
          <p:cNvSpPr/>
          <p:nvPr/>
        </p:nvSpPr>
        <p:spPr>
          <a:xfrm>
            <a:off x="2103120" y="3273552"/>
            <a:ext cx="6583680" cy="274320"/>
          </a:xfrm>
          <a:prstGeom prst="rect">
            <a:avLst/>
          </a:prstGeom>
          <a:noFill/>
          <a:ln/>
        </p:spPr>
        <p:txBody>
          <a:bodyPr wrap="square" lIns="0" tIns="0" rIns="0" bIns="0" rtlCol="0" anchor="ctr"/>
          <a:lstStyle/>
          <a:p>
            <a:pPr indent="0" marL="0">
              <a:buNone/>
            </a:pPr>
            <a:r>
              <a:rPr lang="en-US" sz="1000" dirty="0">
                <a:solidFill>
                  <a:srgbClr val="9BB8CC"/>
                </a:solidFill>
                <a:latin typeface="Calibri" pitchFamily="34" charset="0"/>
                <a:ea typeface="Calibri" pitchFamily="34" charset="-122"/>
                <a:cs typeface="Calibri" pitchFamily="34" charset="-120"/>
              </a:rPr>
              <a:t>Legal: Georgian entity registration, privacy compliance, IP protection</a:t>
            </a:r>
            <a:endParaRPr lang="en-US" sz="1000" dirty="0"/>
          </a:p>
        </p:txBody>
      </p:sp>
      <p:sp>
        <p:nvSpPr>
          <p:cNvPr id="19" name="Text 17"/>
          <p:cNvSpPr/>
          <p:nvPr/>
        </p:nvSpPr>
        <p:spPr>
          <a:xfrm>
            <a:off x="320040" y="3767328"/>
            <a:ext cx="8503920" cy="256032"/>
          </a:xfrm>
          <a:prstGeom prst="rect">
            <a:avLst/>
          </a:prstGeom>
          <a:noFill/>
          <a:ln/>
        </p:spPr>
        <p:txBody>
          <a:bodyPr wrap="square" lIns="0" tIns="0" rIns="0" bIns="0" rtlCol="0" anchor="ctr"/>
          <a:lstStyle/>
          <a:p>
            <a:pPr indent="0" marL="0">
              <a:buNone/>
            </a:pPr>
            <a:r>
              <a:rPr lang="en-US" sz="800" b="1" spc="200" kern="0" dirty="0">
                <a:solidFill>
                  <a:srgbClr val="0D9A8A"/>
                </a:solidFill>
                <a:latin typeface="Calibri" pitchFamily="34" charset="0"/>
                <a:ea typeface="Calibri" pitchFamily="34" charset="-122"/>
                <a:cs typeface="Calibri" pitchFamily="34" charset="-120"/>
              </a:rPr>
              <a:t>MILESTONES THIS CAPITAL FUNDS</a:t>
            </a:r>
            <a:endParaRPr lang="en-US" sz="800" dirty="0"/>
          </a:p>
        </p:txBody>
      </p:sp>
      <p:sp>
        <p:nvSpPr>
          <p:cNvPr id="20" name="Shape 18"/>
          <p:cNvSpPr/>
          <p:nvPr/>
        </p:nvSpPr>
        <p:spPr>
          <a:xfrm>
            <a:off x="320040" y="4114800"/>
            <a:ext cx="201168" cy="201168"/>
          </a:xfrm>
          <a:prstGeom prst="ellipse">
            <a:avLst/>
          </a:prstGeom>
          <a:solidFill>
            <a:srgbClr val="0D9A8A"/>
          </a:solidFill>
          <a:ln w="12700">
            <a:solidFill>
              <a:srgbClr val="0D9A8A"/>
            </a:solidFill>
            <a:prstDash val="solid"/>
          </a:ln>
        </p:spPr>
      </p:sp>
      <p:sp>
        <p:nvSpPr>
          <p:cNvPr id="21" name="Text 19"/>
          <p:cNvSpPr/>
          <p:nvPr/>
        </p:nvSpPr>
        <p:spPr>
          <a:xfrm>
            <a:off x="576072" y="4096512"/>
            <a:ext cx="393192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50 active tutors on the platform within 6 months</a:t>
            </a:r>
            <a:endParaRPr lang="en-US" sz="1000" dirty="0"/>
          </a:p>
        </p:txBody>
      </p:sp>
      <p:sp>
        <p:nvSpPr>
          <p:cNvPr id="22" name="Shape 20"/>
          <p:cNvSpPr/>
          <p:nvPr/>
        </p:nvSpPr>
        <p:spPr>
          <a:xfrm>
            <a:off x="4617720" y="4114800"/>
            <a:ext cx="201168" cy="201168"/>
          </a:xfrm>
          <a:prstGeom prst="ellipse">
            <a:avLst/>
          </a:prstGeom>
          <a:solidFill>
            <a:srgbClr val="0D9A8A"/>
          </a:solidFill>
          <a:ln w="12700">
            <a:solidFill>
              <a:srgbClr val="0D9A8A"/>
            </a:solidFill>
            <a:prstDash val="solid"/>
          </a:ln>
        </p:spPr>
      </p:sp>
      <p:sp>
        <p:nvSpPr>
          <p:cNvPr id="23" name="Text 21"/>
          <p:cNvSpPr/>
          <p:nvPr/>
        </p:nvSpPr>
        <p:spPr>
          <a:xfrm>
            <a:off x="4873752" y="4096512"/>
            <a:ext cx="393192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200 active students per month within 6 months</a:t>
            </a:r>
            <a:endParaRPr lang="en-US" sz="1000" dirty="0"/>
          </a:p>
        </p:txBody>
      </p:sp>
      <p:sp>
        <p:nvSpPr>
          <p:cNvPr id="24" name="Shape 22"/>
          <p:cNvSpPr/>
          <p:nvPr/>
        </p:nvSpPr>
        <p:spPr>
          <a:xfrm>
            <a:off x="320040" y="4498848"/>
            <a:ext cx="201168" cy="201168"/>
          </a:xfrm>
          <a:prstGeom prst="ellipse">
            <a:avLst/>
          </a:prstGeom>
          <a:solidFill>
            <a:srgbClr val="0D9A8A"/>
          </a:solidFill>
          <a:ln w="12700">
            <a:solidFill>
              <a:srgbClr val="0D9A8A"/>
            </a:solidFill>
            <a:prstDash val="solid"/>
          </a:ln>
        </p:spPr>
      </p:sp>
      <p:sp>
        <p:nvSpPr>
          <p:cNvPr id="25" name="Text 23"/>
          <p:cNvSpPr/>
          <p:nvPr/>
        </p:nvSpPr>
        <p:spPr>
          <a:xfrm>
            <a:off x="576072" y="4480560"/>
            <a:ext cx="393192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GEL 3,150 MRR (monthly recurring revenue) at 6-month mark</a:t>
            </a:r>
            <a:endParaRPr lang="en-US" sz="1000" dirty="0"/>
          </a:p>
        </p:txBody>
      </p:sp>
      <p:sp>
        <p:nvSpPr>
          <p:cNvPr id="26" name="Shape 24"/>
          <p:cNvSpPr/>
          <p:nvPr/>
        </p:nvSpPr>
        <p:spPr>
          <a:xfrm>
            <a:off x="4617720" y="4498848"/>
            <a:ext cx="201168" cy="201168"/>
          </a:xfrm>
          <a:prstGeom prst="ellipse">
            <a:avLst/>
          </a:prstGeom>
          <a:solidFill>
            <a:srgbClr val="0D9A8A"/>
          </a:solidFill>
          <a:ln w="12700">
            <a:solidFill>
              <a:srgbClr val="0D9A8A"/>
            </a:solidFill>
            <a:prstDash val="solid"/>
          </a:ln>
        </p:spPr>
      </p:sp>
      <p:sp>
        <p:nvSpPr>
          <p:cNvPr id="27" name="Text 25"/>
          <p:cNvSpPr/>
          <p:nvPr/>
        </p:nvSpPr>
        <p:spPr>
          <a:xfrm>
            <a:off x="4873752" y="4480560"/>
            <a:ext cx="393192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Series A readiness: 12-month cohort retention data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TutorLink Pitch Deck</dc:title>
  <dc:subject>PptxGenJS Presentation</dc:subject>
  <dc:creator>PptxGenJS</dc:creator>
  <cp:lastModifiedBy>PptxGenJS</cp:lastModifiedBy>
  <cp:revision>1</cp:revision>
  <dcterms:created xsi:type="dcterms:W3CDTF">2026-06-11T21:29:12Z</dcterms:created>
  <dcterms:modified xsi:type="dcterms:W3CDTF">2026-06-11T21:29:12Z</dcterms:modified>
</cp:coreProperties>
</file>